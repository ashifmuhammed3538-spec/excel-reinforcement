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357A19-55C7-4DB9-8C3A-E45FFD36BF4B}" v="58" dt="2025-10-10T16:41:39.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EUAI054 VIKASS ARAVIND C V" userId="8c928f3280d782dc" providerId="LiveId" clId="{C06895C5-B1E9-48B1-ACA0-01C1C99DE595}"/>
    <pc:docChg chg="undo custSel addSld delSld modSld">
      <pc:chgData name="20EUAI054 VIKASS ARAVIND C V" userId="8c928f3280d782dc" providerId="LiveId" clId="{C06895C5-B1E9-48B1-ACA0-01C1C99DE595}" dt="2025-10-13T04:31:31.049" v="1730" actId="20577"/>
      <pc:docMkLst>
        <pc:docMk/>
      </pc:docMkLst>
      <pc:sldChg chg="modSp mod">
        <pc:chgData name="20EUAI054 VIKASS ARAVIND C V" userId="8c928f3280d782dc" providerId="LiveId" clId="{C06895C5-B1E9-48B1-ACA0-01C1C99DE595}" dt="2025-10-10T16:47:12.271" v="1700" actId="2711"/>
        <pc:sldMkLst>
          <pc:docMk/>
          <pc:sldMk cId="3228555668" sldId="256"/>
        </pc:sldMkLst>
        <pc:spChg chg="mod">
          <ac:chgData name="20EUAI054 VIKASS ARAVIND C V" userId="8c928f3280d782dc" providerId="LiveId" clId="{C06895C5-B1E9-48B1-ACA0-01C1C99DE595}" dt="2025-10-10T16:47:12.271" v="1700" actId="2711"/>
          <ac:spMkLst>
            <pc:docMk/>
            <pc:sldMk cId="3228555668" sldId="256"/>
            <ac:spMk id="5" creationId="{48905083-A1CF-781D-6FFB-9BB7AA09FA83}"/>
          </ac:spMkLst>
        </pc:spChg>
      </pc:sldChg>
      <pc:sldChg chg="modSp mod">
        <pc:chgData name="20EUAI054 VIKASS ARAVIND C V" userId="8c928f3280d782dc" providerId="LiveId" clId="{C06895C5-B1E9-48B1-ACA0-01C1C99DE595}" dt="2025-10-10T16:46:31.359" v="1696" actId="113"/>
        <pc:sldMkLst>
          <pc:docMk/>
          <pc:sldMk cId="3055710468" sldId="257"/>
        </pc:sldMkLst>
        <pc:spChg chg="mod">
          <ac:chgData name="20EUAI054 VIKASS ARAVIND C V" userId="8c928f3280d782dc" providerId="LiveId" clId="{C06895C5-B1E9-48B1-ACA0-01C1C99DE595}" dt="2025-10-10T16:46:31.359" v="1696" actId="113"/>
          <ac:spMkLst>
            <pc:docMk/>
            <pc:sldMk cId="3055710468" sldId="257"/>
            <ac:spMk id="2" creationId="{ACC46A17-2249-754D-5A39-AA78C8E5E64A}"/>
          </ac:spMkLst>
        </pc:spChg>
        <pc:spChg chg="mod">
          <ac:chgData name="20EUAI054 VIKASS ARAVIND C V" userId="8c928f3280d782dc" providerId="LiveId" clId="{C06895C5-B1E9-48B1-ACA0-01C1C99DE595}" dt="2025-10-10T08:45:03.303" v="429" actId="12"/>
          <ac:spMkLst>
            <pc:docMk/>
            <pc:sldMk cId="3055710468" sldId="257"/>
            <ac:spMk id="4" creationId="{C54E759E-6D7B-A474-57E0-81376CDA69A6}"/>
          </ac:spMkLst>
        </pc:spChg>
      </pc:sldChg>
      <pc:sldChg chg="modSp mod">
        <pc:chgData name="20EUAI054 VIKASS ARAVIND C V" userId="8c928f3280d782dc" providerId="LiveId" clId="{C06895C5-B1E9-48B1-ACA0-01C1C99DE595}" dt="2025-10-10T08:44:51.020" v="421" actId="12"/>
        <pc:sldMkLst>
          <pc:docMk/>
          <pc:sldMk cId="3524860304" sldId="258"/>
        </pc:sldMkLst>
        <pc:spChg chg="mod">
          <ac:chgData name="20EUAI054 VIKASS ARAVIND C V" userId="8c928f3280d782dc" providerId="LiveId" clId="{C06895C5-B1E9-48B1-ACA0-01C1C99DE595}" dt="2025-10-10T08:44:51.020" v="421" actId="12"/>
          <ac:spMkLst>
            <pc:docMk/>
            <pc:sldMk cId="3524860304" sldId="258"/>
            <ac:spMk id="3" creationId="{42A2D280-C2DA-7FC0-6CC3-126DD79FC757}"/>
          </ac:spMkLst>
        </pc:spChg>
      </pc:sldChg>
      <pc:sldChg chg="addSp modSp mod">
        <pc:chgData name="20EUAI054 VIKASS ARAVIND C V" userId="8c928f3280d782dc" providerId="LiveId" clId="{C06895C5-B1E9-48B1-ACA0-01C1C99DE595}" dt="2025-10-10T16:46:18.489" v="1695" actId="113"/>
        <pc:sldMkLst>
          <pc:docMk/>
          <pc:sldMk cId="3663345402" sldId="260"/>
        </pc:sldMkLst>
        <pc:spChg chg="mod">
          <ac:chgData name="20EUAI054 VIKASS ARAVIND C V" userId="8c928f3280d782dc" providerId="LiveId" clId="{C06895C5-B1E9-48B1-ACA0-01C1C99DE595}" dt="2025-10-10T16:46:18.489" v="1695" actId="113"/>
          <ac:spMkLst>
            <pc:docMk/>
            <pc:sldMk cId="3663345402" sldId="260"/>
            <ac:spMk id="2" creationId="{93CCF61F-5360-4890-3108-3F74BD4AF857}"/>
          </ac:spMkLst>
        </pc:spChg>
        <pc:spChg chg="mod">
          <ac:chgData name="20EUAI054 VIKASS ARAVIND C V" userId="8c928f3280d782dc" providerId="LiveId" clId="{C06895C5-B1E9-48B1-ACA0-01C1C99DE595}" dt="2025-10-10T14:15:47.810" v="756" actId="2711"/>
          <ac:spMkLst>
            <pc:docMk/>
            <pc:sldMk cId="3663345402" sldId="260"/>
            <ac:spMk id="3" creationId="{EAC90479-12B4-A2EB-D77D-019AEFE99CCB}"/>
          </ac:spMkLst>
        </pc:spChg>
        <pc:picChg chg="add mod">
          <ac:chgData name="20EUAI054 VIKASS ARAVIND C V" userId="8c928f3280d782dc" providerId="LiveId" clId="{C06895C5-B1E9-48B1-ACA0-01C1C99DE595}" dt="2025-10-10T07:58:43.348" v="169" actId="1076"/>
          <ac:picMkLst>
            <pc:docMk/>
            <pc:sldMk cId="3663345402" sldId="260"/>
            <ac:picMk id="5" creationId="{808F5F33-3C0B-C52D-A556-106675F79917}"/>
          </ac:picMkLst>
        </pc:picChg>
        <pc:picChg chg="add mod">
          <ac:chgData name="20EUAI054 VIKASS ARAVIND C V" userId="8c928f3280d782dc" providerId="LiveId" clId="{C06895C5-B1E9-48B1-ACA0-01C1C99DE595}" dt="2025-10-10T07:59:43.281" v="171" actId="1076"/>
          <ac:picMkLst>
            <pc:docMk/>
            <pc:sldMk cId="3663345402" sldId="260"/>
            <ac:picMk id="7" creationId="{87320762-2073-578B-60D8-BC79FEEA5C37}"/>
          </ac:picMkLst>
        </pc:picChg>
      </pc:sldChg>
      <pc:sldChg chg="modSp mod">
        <pc:chgData name="20EUAI054 VIKASS ARAVIND C V" userId="8c928f3280d782dc" providerId="LiveId" clId="{C06895C5-B1E9-48B1-ACA0-01C1C99DE595}" dt="2025-10-10T16:46:11.415" v="1694" actId="113"/>
        <pc:sldMkLst>
          <pc:docMk/>
          <pc:sldMk cId="3108323574" sldId="261"/>
        </pc:sldMkLst>
        <pc:spChg chg="mod">
          <ac:chgData name="20EUAI054 VIKASS ARAVIND C V" userId="8c928f3280d782dc" providerId="LiveId" clId="{C06895C5-B1E9-48B1-ACA0-01C1C99DE595}" dt="2025-10-10T16:46:11.415" v="1694" actId="113"/>
          <ac:spMkLst>
            <pc:docMk/>
            <pc:sldMk cId="3108323574" sldId="261"/>
            <ac:spMk id="2" creationId="{858F54A0-670B-78FB-0688-6E9B8D9C87DF}"/>
          </ac:spMkLst>
        </pc:spChg>
        <pc:spChg chg="mod">
          <ac:chgData name="20EUAI054 VIKASS ARAVIND C V" userId="8c928f3280d782dc" providerId="LiveId" clId="{C06895C5-B1E9-48B1-ACA0-01C1C99DE595}" dt="2025-10-10T08:44:13.240" v="408" actId="12"/>
          <ac:spMkLst>
            <pc:docMk/>
            <pc:sldMk cId="3108323574" sldId="261"/>
            <ac:spMk id="3" creationId="{17AC87F1-39DB-BBBE-A0CE-6CC419E11AC0}"/>
          </ac:spMkLst>
        </pc:spChg>
      </pc:sldChg>
      <pc:sldChg chg="addSp delSp modSp mod">
        <pc:chgData name="20EUAI054 VIKASS ARAVIND C V" userId="8c928f3280d782dc" providerId="LiveId" clId="{C06895C5-B1E9-48B1-ACA0-01C1C99DE595}" dt="2025-10-10T14:23:26.056" v="855" actId="20577"/>
        <pc:sldMkLst>
          <pc:docMk/>
          <pc:sldMk cId="1235913753" sldId="262"/>
        </pc:sldMkLst>
        <pc:spChg chg="mod">
          <ac:chgData name="20EUAI054 VIKASS ARAVIND C V" userId="8c928f3280d782dc" providerId="LiveId" clId="{C06895C5-B1E9-48B1-ACA0-01C1C99DE595}" dt="2025-10-10T14:23:26.056" v="855" actId="20577"/>
          <ac:spMkLst>
            <pc:docMk/>
            <pc:sldMk cId="1235913753" sldId="262"/>
            <ac:spMk id="2" creationId="{4A3A9676-AA83-A288-1B40-1DE528632F08}"/>
          </ac:spMkLst>
        </pc:spChg>
        <pc:spChg chg="mod">
          <ac:chgData name="20EUAI054 VIKASS ARAVIND C V" userId="8c928f3280d782dc" providerId="LiveId" clId="{C06895C5-B1E9-48B1-ACA0-01C1C99DE595}" dt="2025-10-10T08:41:20.966" v="394" actId="1076"/>
          <ac:spMkLst>
            <pc:docMk/>
            <pc:sldMk cId="1235913753" sldId="262"/>
            <ac:spMk id="3" creationId="{BC7E1FBE-DA9B-2DD1-5D99-8AFE664DD937}"/>
          </ac:spMkLst>
        </pc:spChg>
        <pc:spChg chg="add mod">
          <ac:chgData name="20EUAI054 VIKASS ARAVIND C V" userId="8c928f3280d782dc" providerId="LiveId" clId="{C06895C5-B1E9-48B1-ACA0-01C1C99DE595}" dt="2025-10-10T08:41:33.126" v="397" actId="1076"/>
          <ac:spMkLst>
            <pc:docMk/>
            <pc:sldMk cId="1235913753" sldId="262"/>
            <ac:spMk id="7" creationId="{88CA8FA5-5483-4AEA-0FF8-873324F43EBF}"/>
          </ac:spMkLst>
        </pc:spChg>
        <pc:spChg chg="add mod">
          <ac:chgData name="20EUAI054 VIKASS ARAVIND C V" userId="8c928f3280d782dc" providerId="LiveId" clId="{C06895C5-B1E9-48B1-ACA0-01C1C99DE595}" dt="2025-10-10T08:41:24.586" v="395" actId="1076"/>
          <ac:spMkLst>
            <pc:docMk/>
            <pc:sldMk cId="1235913753" sldId="262"/>
            <ac:spMk id="8" creationId="{4BD358CD-452A-C191-0A0C-84F4A0705D4A}"/>
          </ac:spMkLst>
        </pc:spChg>
        <pc:picChg chg="add mod">
          <ac:chgData name="20EUAI054 VIKASS ARAVIND C V" userId="8c928f3280d782dc" providerId="LiveId" clId="{C06895C5-B1E9-48B1-ACA0-01C1C99DE595}" dt="2025-10-10T08:41:53.073" v="399" actId="1076"/>
          <ac:picMkLst>
            <pc:docMk/>
            <pc:sldMk cId="1235913753" sldId="262"/>
            <ac:picMk id="5" creationId="{370A179F-E8E0-A94C-DE62-D9516EF34C14}"/>
          </ac:picMkLst>
        </pc:picChg>
        <pc:picChg chg="add mod">
          <ac:chgData name="20EUAI054 VIKASS ARAVIND C V" userId="8c928f3280d782dc" providerId="LiveId" clId="{C06895C5-B1E9-48B1-ACA0-01C1C99DE595}" dt="2025-10-10T08:41:44.594" v="398" actId="1076"/>
          <ac:picMkLst>
            <pc:docMk/>
            <pc:sldMk cId="1235913753" sldId="262"/>
            <ac:picMk id="12" creationId="{F42B67F4-40ED-92ED-8C90-B5728354A2EF}"/>
          </ac:picMkLst>
        </pc:picChg>
      </pc:sldChg>
      <pc:sldChg chg="modSp new mod">
        <pc:chgData name="20EUAI054 VIKASS ARAVIND C V" userId="8c928f3280d782dc" providerId="LiveId" clId="{C06895C5-B1E9-48B1-ACA0-01C1C99DE595}" dt="2025-10-10T16:45:59.161" v="1693" actId="113"/>
        <pc:sldMkLst>
          <pc:docMk/>
          <pc:sldMk cId="3152276941" sldId="263"/>
        </pc:sldMkLst>
        <pc:spChg chg="mod">
          <ac:chgData name="20EUAI054 VIKASS ARAVIND C V" userId="8c928f3280d782dc" providerId="LiveId" clId="{C06895C5-B1E9-48B1-ACA0-01C1C99DE595}" dt="2025-10-10T16:45:59.161" v="1693" actId="113"/>
          <ac:spMkLst>
            <pc:docMk/>
            <pc:sldMk cId="3152276941" sldId="263"/>
            <ac:spMk id="2" creationId="{394BA3F7-C02D-4D42-A1DA-A4499EC6E643}"/>
          </ac:spMkLst>
        </pc:spChg>
        <pc:spChg chg="mod">
          <ac:chgData name="20EUAI054 VIKASS ARAVIND C V" userId="8c928f3280d782dc" providerId="LiveId" clId="{C06895C5-B1E9-48B1-ACA0-01C1C99DE595}" dt="2025-10-10T08:59:56.278" v="498" actId="20577"/>
          <ac:spMkLst>
            <pc:docMk/>
            <pc:sldMk cId="3152276941" sldId="263"/>
            <ac:spMk id="3" creationId="{6FF57365-989B-FB18-F4BB-7E9B7B9048D1}"/>
          </ac:spMkLst>
        </pc:spChg>
      </pc:sldChg>
      <pc:sldChg chg="addSp delSp modSp new mod">
        <pc:chgData name="20EUAI054 VIKASS ARAVIND C V" userId="8c928f3280d782dc" providerId="LiveId" clId="{C06895C5-B1E9-48B1-ACA0-01C1C99DE595}" dt="2025-10-10T09:17:28.086" v="522" actId="14100"/>
        <pc:sldMkLst>
          <pc:docMk/>
          <pc:sldMk cId="1019743893" sldId="264"/>
        </pc:sldMkLst>
        <pc:spChg chg="mod">
          <ac:chgData name="20EUAI054 VIKASS ARAVIND C V" userId="8c928f3280d782dc" providerId="LiveId" clId="{C06895C5-B1E9-48B1-ACA0-01C1C99DE595}" dt="2025-10-10T09:17:20.407" v="521" actId="1076"/>
          <ac:spMkLst>
            <pc:docMk/>
            <pc:sldMk cId="1019743893" sldId="264"/>
            <ac:spMk id="2" creationId="{48459808-90BB-0ABC-502B-98F3268B4BC7}"/>
          </ac:spMkLst>
        </pc:spChg>
        <pc:picChg chg="add mod">
          <ac:chgData name="20EUAI054 VIKASS ARAVIND C V" userId="8c928f3280d782dc" providerId="LiveId" clId="{C06895C5-B1E9-48B1-ACA0-01C1C99DE595}" dt="2025-10-10T09:17:28.086" v="522" actId="14100"/>
          <ac:picMkLst>
            <pc:docMk/>
            <pc:sldMk cId="1019743893" sldId="264"/>
            <ac:picMk id="6" creationId="{6F875512-FBFB-82B3-B38B-F94079644A1E}"/>
          </ac:picMkLst>
        </pc:picChg>
      </pc:sldChg>
      <pc:sldChg chg="modSp new mod">
        <pc:chgData name="20EUAI054 VIKASS ARAVIND C V" userId="8c928f3280d782dc" providerId="LiveId" clId="{C06895C5-B1E9-48B1-ACA0-01C1C99DE595}" dt="2025-10-10T16:45:44.815" v="1692" actId="113"/>
        <pc:sldMkLst>
          <pc:docMk/>
          <pc:sldMk cId="1924203058" sldId="265"/>
        </pc:sldMkLst>
        <pc:spChg chg="mod">
          <ac:chgData name="20EUAI054 VIKASS ARAVIND C V" userId="8c928f3280d782dc" providerId="LiveId" clId="{C06895C5-B1E9-48B1-ACA0-01C1C99DE595}" dt="2025-10-10T16:45:44.815" v="1692" actId="113"/>
          <ac:spMkLst>
            <pc:docMk/>
            <pc:sldMk cId="1924203058" sldId="265"/>
            <ac:spMk id="2" creationId="{0DED76C5-ECAF-D151-5428-5298E1BA01DD}"/>
          </ac:spMkLst>
        </pc:spChg>
        <pc:spChg chg="mod">
          <ac:chgData name="20EUAI054 VIKASS ARAVIND C V" userId="8c928f3280d782dc" providerId="LiveId" clId="{C06895C5-B1E9-48B1-ACA0-01C1C99DE595}" dt="2025-10-10T14:21:25.669" v="761" actId="20577"/>
          <ac:spMkLst>
            <pc:docMk/>
            <pc:sldMk cId="1924203058" sldId="265"/>
            <ac:spMk id="3" creationId="{DCAFCBF2-7DC9-35D6-AC56-5BCA01DC7F9B}"/>
          </ac:spMkLst>
        </pc:spChg>
      </pc:sldChg>
      <pc:sldChg chg="addSp delSp modSp new mod">
        <pc:chgData name="20EUAI054 VIKASS ARAVIND C V" userId="8c928f3280d782dc" providerId="LiveId" clId="{C06895C5-B1E9-48B1-ACA0-01C1C99DE595}" dt="2025-10-10T14:23:50.912" v="871" actId="20577"/>
        <pc:sldMkLst>
          <pc:docMk/>
          <pc:sldMk cId="2198291116" sldId="266"/>
        </pc:sldMkLst>
        <pc:spChg chg="mod">
          <ac:chgData name="20EUAI054 VIKASS ARAVIND C V" userId="8c928f3280d782dc" providerId="LiveId" clId="{C06895C5-B1E9-48B1-ACA0-01C1C99DE595}" dt="2025-10-10T14:23:50.912" v="871" actId="20577"/>
          <ac:spMkLst>
            <pc:docMk/>
            <pc:sldMk cId="2198291116" sldId="266"/>
            <ac:spMk id="2" creationId="{FE77C7CB-2910-175B-930F-23258FE21EF0}"/>
          </ac:spMkLst>
        </pc:spChg>
        <pc:picChg chg="add mod">
          <ac:chgData name="20EUAI054 VIKASS ARAVIND C V" userId="8c928f3280d782dc" providerId="LiveId" clId="{C06895C5-B1E9-48B1-ACA0-01C1C99DE595}" dt="2025-10-10T14:06:01.882" v="715" actId="14100"/>
          <ac:picMkLst>
            <pc:docMk/>
            <pc:sldMk cId="2198291116" sldId="266"/>
            <ac:picMk id="5" creationId="{44CA5E6D-7033-099E-BBF4-9A0A690E954D}"/>
          </ac:picMkLst>
        </pc:picChg>
      </pc:sldChg>
      <pc:sldChg chg="addSp delSp modSp new mod">
        <pc:chgData name="20EUAI054 VIKASS ARAVIND C V" userId="8c928f3280d782dc" providerId="LiveId" clId="{C06895C5-B1E9-48B1-ACA0-01C1C99DE595}" dt="2025-10-10T14:41:58.735" v="1027" actId="20577"/>
        <pc:sldMkLst>
          <pc:docMk/>
          <pc:sldMk cId="1583922173" sldId="267"/>
        </pc:sldMkLst>
        <pc:spChg chg="mod">
          <ac:chgData name="20EUAI054 VIKASS ARAVIND C V" userId="8c928f3280d782dc" providerId="LiveId" clId="{C06895C5-B1E9-48B1-ACA0-01C1C99DE595}" dt="2025-10-10T14:35:15.736" v="972" actId="1076"/>
          <ac:spMkLst>
            <pc:docMk/>
            <pc:sldMk cId="1583922173" sldId="267"/>
            <ac:spMk id="2" creationId="{DA3A1333-5263-2404-1CF4-2973A2C393EF}"/>
          </ac:spMkLst>
        </pc:spChg>
        <pc:spChg chg="add mod">
          <ac:chgData name="20EUAI054 VIKASS ARAVIND C V" userId="8c928f3280d782dc" providerId="LiveId" clId="{C06895C5-B1E9-48B1-ACA0-01C1C99DE595}" dt="2025-10-10T14:41:58.735" v="1027" actId="20577"/>
          <ac:spMkLst>
            <pc:docMk/>
            <pc:sldMk cId="1583922173" sldId="267"/>
            <ac:spMk id="10" creationId="{B50C7F84-1E5C-6388-D00B-7A61499D783C}"/>
          </ac:spMkLst>
        </pc:spChg>
        <pc:picChg chg="add mod">
          <ac:chgData name="20EUAI054 VIKASS ARAVIND C V" userId="8c928f3280d782dc" providerId="LiveId" clId="{C06895C5-B1E9-48B1-ACA0-01C1C99DE595}" dt="2025-10-10T14:29:49.465" v="926" actId="14100"/>
          <ac:picMkLst>
            <pc:docMk/>
            <pc:sldMk cId="1583922173" sldId="267"/>
            <ac:picMk id="7" creationId="{21C9F4EA-7997-C50B-F826-81601AA49043}"/>
          </ac:picMkLst>
        </pc:picChg>
        <pc:picChg chg="add mod">
          <ac:chgData name="20EUAI054 VIKASS ARAVIND C V" userId="8c928f3280d782dc" providerId="LiveId" clId="{C06895C5-B1E9-48B1-ACA0-01C1C99DE595}" dt="2025-10-10T14:29:54.229" v="927" actId="14100"/>
          <ac:picMkLst>
            <pc:docMk/>
            <pc:sldMk cId="1583922173" sldId="267"/>
            <ac:picMk id="9" creationId="{94D6F1DF-E20F-8DA9-0B63-6EB3109791E5}"/>
          </ac:picMkLst>
        </pc:picChg>
      </pc:sldChg>
      <pc:sldChg chg="modSp new mod">
        <pc:chgData name="20EUAI054 VIKASS ARAVIND C V" userId="8c928f3280d782dc" providerId="LiveId" clId="{C06895C5-B1E9-48B1-ACA0-01C1C99DE595}" dt="2025-10-10T16:45:18.009" v="1691" actId="113"/>
        <pc:sldMkLst>
          <pc:docMk/>
          <pc:sldMk cId="3792778590" sldId="268"/>
        </pc:sldMkLst>
        <pc:spChg chg="mod">
          <ac:chgData name="20EUAI054 VIKASS ARAVIND C V" userId="8c928f3280d782dc" providerId="LiveId" clId="{C06895C5-B1E9-48B1-ACA0-01C1C99DE595}" dt="2025-10-10T16:45:18.009" v="1691" actId="113"/>
          <ac:spMkLst>
            <pc:docMk/>
            <pc:sldMk cId="3792778590" sldId="268"/>
            <ac:spMk id="2" creationId="{70FA793F-32C2-05FE-4E32-859A5A03C516}"/>
          </ac:spMkLst>
        </pc:spChg>
        <pc:spChg chg="mod">
          <ac:chgData name="20EUAI054 VIKASS ARAVIND C V" userId="8c928f3280d782dc" providerId="LiveId" clId="{C06895C5-B1E9-48B1-ACA0-01C1C99DE595}" dt="2025-10-10T15:13:10.617" v="1277" actId="2711"/>
          <ac:spMkLst>
            <pc:docMk/>
            <pc:sldMk cId="3792778590" sldId="268"/>
            <ac:spMk id="3" creationId="{73ACF64B-6624-2A34-9FB7-A11DDA0C743B}"/>
          </ac:spMkLst>
        </pc:spChg>
      </pc:sldChg>
      <pc:sldChg chg="addSp delSp modSp new mod">
        <pc:chgData name="20EUAI054 VIKASS ARAVIND C V" userId="8c928f3280d782dc" providerId="LiveId" clId="{C06895C5-B1E9-48B1-ACA0-01C1C99DE595}" dt="2025-10-10T16:45:11.522" v="1690" actId="113"/>
        <pc:sldMkLst>
          <pc:docMk/>
          <pc:sldMk cId="3532947143" sldId="269"/>
        </pc:sldMkLst>
        <pc:spChg chg="mod">
          <ac:chgData name="20EUAI054 VIKASS ARAVIND C V" userId="8c928f3280d782dc" providerId="LiveId" clId="{C06895C5-B1E9-48B1-ACA0-01C1C99DE595}" dt="2025-10-10T16:45:11.522" v="1690" actId="113"/>
          <ac:spMkLst>
            <pc:docMk/>
            <pc:sldMk cId="3532947143" sldId="269"/>
            <ac:spMk id="2" creationId="{F6F07873-62C5-11A7-FE9C-07EA32F2E2B8}"/>
          </ac:spMkLst>
        </pc:spChg>
        <pc:picChg chg="add mod">
          <ac:chgData name="20EUAI054 VIKASS ARAVIND C V" userId="8c928f3280d782dc" providerId="LiveId" clId="{C06895C5-B1E9-48B1-ACA0-01C1C99DE595}" dt="2025-10-10T15:20:34.367" v="1309" actId="14100"/>
          <ac:picMkLst>
            <pc:docMk/>
            <pc:sldMk cId="3532947143" sldId="269"/>
            <ac:picMk id="5" creationId="{51C425F7-8196-6750-FA81-06807AE9C89B}"/>
          </ac:picMkLst>
        </pc:picChg>
        <pc:picChg chg="add mod">
          <ac:chgData name="20EUAI054 VIKASS ARAVIND C V" userId="8c928f3280d782dc" providerId="LiveId" clId="{C06895C5-B1E9-48B1-ACA0-01C1C99DE595}" dt="2025-10-10T15:20:38.550" v="1310" actId="14100"/>
          <ac:picMkLst>
            <pc:docMk/>
            <pc:sldMk cId="3532947143" sldId="269"/>
            <ac:picMk id="7" creationId="{FC072CF7-19B8-D2C9-8684-4B8660A236E0}"/>
          </ac:picMkLst>
        </pc:picChg>
      </pc:sldChg>
      <pc:sldChg chg="addSp delSp modSp new mod">
        <pc:chgData name="20EUAI054 VIKASS ARAVIND C V" userId="8c928f3280d782dc" providerId="LiveId" clId="{C06895C5-B1E9-48B1-ACA0-01C1C99DE595}" dt="2025-10-13T04:31:31.049" v="1730" actId="20577"/>
        <pc:sldMkLst>
          <pc:docMk/>
          <pc:sldMk cId="190116510" sldId="270"/>
        </pc:sldMkLst>
        <pc:spChg chg="mod">
          <ac:chgData name="20EUAI054 VIKASS ARAVIND C V" userId="8c928f3280d782dc" providerId="LiveId" clId="{C06895C5-B1E9-48B1-ACA0-01C1C99DE595}" dt="2025-10-10T16:44:31.599" v="1689" actId="113"/>
          <ac:spMkLst>
            <pc:docMk/>
            <pc:sldMk cId="190116510" sldId="270"/>
            <ac:spMk id="2" creationId="{5B7FE591-AAA8-FDC1-B2F2-475A2BC865A3}"/>
          </ac:spMkLst>
        </pc:spChg>
        <pc:spChg chg="add del mod">
          <ac:chgData name="20EUAI054 VIKASS ARAVIND C V" userId="8c928f3280d782dc" providerId="LiveId" clId="{C06895C5-B1E9-48B1-ACA0-01C1C99DE595}" dt="2025-10-13T04:31:31.049" v="1730" actId="20577"/>
          <ac:spMkLst>
            <pc:docMk/>
            <pc:sldMk cId="190116510" sldId="270"/>
            <ac:spMk id="3" creationId="{0B84FE18-D420-5C18-40B8-E90ABFE54DEB}"/>
          </ac:spMkLst>
        </pc:spChg>
      </pc:sldChg>
      <pc:sldChg chg="modSp new mod">
        <pc:chgData name="20EUAI054 VIKASS ARAVIND C V" userId="8c928f3280d782dc" providerId="LiveId" clId="{C06895C5-B1E9-48B1-ACA0-01C1C99DE595}" dt="2025-10-10T16:44:06.892" v="1688" actId="1076"/>
        <pc:sldMkLst>
          <pc:docMk/>
          <pc:sldMk cId="2022140860" sldId="271"/>
        </pc:sldMkLst>
        <pc:spChg chg="mod">
          <ac:chgData name="20EUAI054 VIKASS ARAVIND C V" userId="8c928f3280d782dc" providerId="LiveId" clId="{C06895C5-B1E9-48B1-ACA0-01C1C99DE595}" dt="2025-10-10T16:44:00.285" v="1687" actId="14100"/>
          <ac:spMkLst>
            <pc:docMk/>
            <pc:sldMk cId="2022140860" sldId="271"/>
            <ac:spMk id="2" creationId="{10BEB72B-2F43-4BCC-8D9A-EFCB0059AE0A}"/>
          </ac:spMkLst>
        </pc:spChg>
        <pc:spChg chg="mod">
          <ac:chgData name="20EUAI054 VIKASS ARAVIND C V" userId="8c928f3280d782dc" providerId="LiveId" clId="{C06895C5-B1E9-48B1-ACA0-01C1C99DE595}" dt="2025-10-10T16:44:06.892" v="1688" actId="1076"/>
          <ac:spMkLst>
            <pc:docMk/>
            <pc:sldMk cId="2022140860" sldId="271"/>
            <ac:spMk id="3" creationId="{D7E3ED58-56A0-F689-7838-DB76EDF33A72}"/>
          </ac:spMkLst>
        </pc:spChg>
      </pc:sldChg>
      <pc:sldChg chg="modSp new mod">
        <pc:chgData name="20EUAI054 VIKASS ARAVIND C V" userId="8c928f3280d782dc" providerId="LiveId" clId="{C06895C5-B1E9-48B1-ACA0-01C1C99DE595}" dt="2025-10-13T04:02:50.872" v="1703" actId="20577"/>
        <pc:sldMkLst>
          <pc:docMk/>
          <pc:sldMk cId="1351755877" sldId="272"/>
        </pc:sldMkLst>
        <pc:spChg chg="mod">
          <ac:chgData name="20EUAI054 VIKASS ARAVIND C V" userId="8c928f3280d782dc" providerId="LiveId" clId="{C06895C5-B1E9-48B1-ACA0-01C1C99DE595}" dt="2025-10-10T16:43:29.672" v="1682" actId="113"/>
          <ac:spMkLst>
            <pc:docMk/>
            <pc:sldMk cId="1351755877" sldId="272"/>
            <ac:spMk id="2" creationId="{AB7B16E5-033D-F1DA-DBE5-0A4FA8D32D9A}"/>
          </ac:spMkLst>
        </pc:spChg>
        <pc:spChg chg="mod">
          <ac:chgData name="20EUAI054 VIKASS ARAVIND C V" userId="8c928f3280d782dc" providerId="LiveId" clId="{C06895C5-B1E9-48B1-ACA0-01C1C99DE595}" dt="2025-10-13T04:02:50.872" v="1703" actId="20577"/>
          <ac:spMkLst>
            <pc:docMk/>
            <pc:sldMk cId="1351755877" sldId="272"/>
            <ac:spMk id="3" creationId="{99D99739-5314-BDC8-AC8A-07A4861D7BD2}"/>
          </ac:spMkLst>
        </pc:spChg>
      </pc:sldChg>
      <pc:sldChg chg="new del">
        <pc:chgData name="20EUAI054 VIKASS ARAVIND C V" userId="8c928f3280d782dc" providerId="LiveId" clId="{C06895C5-B1E9-48B1-ACA0-01C1C99DE595}" dt="2025-10-10T16:42:50.983" v="1681" actId="2696"/>
        <pc:sldMkLst>
          <pc:docMk/>
          <pc:sldMk cId="872038193"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1793A-4EDE-46B5-9A07-1247D392AD28}" type="datetimeFigureOut">
              <a:rPr lang="en-IN" smtClean="0"/>
              <a:t>14-02-2026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879B1-FA55-4FB8-9252-6E1B1D6966D0}" type="slidenum">
              <a:rPr lang="en-IN" smtClean="0"/>
              <a:t>‹#›</a:t>
            </a:fld>
            <a:endParaRPr lang="en-IN"/>
          </a:p>
        </p:txBody>
      </p:sp>
    </p:spTree>
    <p:extLst>
      <p:ext uri="{BB962C8B-B14F-4D97-AF65-F5344CB8AC3E}">
        <p14:creationId xmlns:p14="http://schemas.microsoft.com/office/powerpoint/2010/main" val="1396039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E879B1-FA55-4FB8-9252-6E1B1D6966D0}" type="slidenum">
              <a:rPr lang="en-IN" smtClean="0"/>
              <a:t>3</a:t>
            </a:fld>
            <a:endParaRPr lang="en-IN"/>
          </a:p>
        </p:txBody>
      </p:sp>
    </p:spTree>
    <p:extLst>
      <p:ext uri="{BB962C8B-B14F-4D97-AF65-F5344CB8AC3E}">
        <p14:creationId xmlns:p14="http://schemas.microsoft.com/office/powerpoint/2010/main" val="2331561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1156081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3013889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375322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083AC6-7D3A-4FDC-A507-24B2EBAC88A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307842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083AC6-7D3A-4FDC-A507-24B2EBAC88A8}"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3983087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083AC6-7D3A-4FDC-A507-24B2EBAC88A8}"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2103714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083AC6-7D3A-4FDC-A507-24B2EBAC88A8}" type="datetimeFigureOut">
              <a:rPr lang="en-IN" smtClean="0"/>
              <a:t>14-02-2026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403442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083AC6-7D3A-4FDC-A507-24B2EBAC88A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4309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083AC6-7D3A-4FDC-A507-24B2EBAC88A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344429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183541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0776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1027088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73981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1642240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223258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83AC6-7D3A-4FDC-A507-24B2EBAC88A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10BD5A-77E0-4F72-BEE8-F373E96F41F3}" type="slidenum">
              <a:rPr lang="en-IN" smtClean="0"/>
              <a:t>‹#›</a:t>
            </a:fld>
            <a:endParaRPr lang="en-IN"/>
          </a:p>
        </p:txBody>
      </p:sp>
    </p:spTree>
    <p:extLst>
      <p:ext uri="{BB962C8B-B14F-4D97-AF65-F5344CB8AC3E}">
        <p14:creationId xmlns:p14="http://schemas.microsoft.com/office/powerpoint/2010/main" val="2220008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C083AC6-7D3A-4FDC-A507-24B2EBAC88A8}" type="datetimeFigureOut">
              <a:rPr lang="en-IN" smtClean="0"/>
              <a:t>14-02-2026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8C10BD5A-77E0-4F72-BEE8-F373E96F41F3}" type="slidenum">
              <a:rPr lang="en-IN" smtClean="0"/>
              <a:t>‹#›</a:t>
            </a:fld>
            <a:endParaRPr lang="en-IN"/>
          </a:p>
        </p:txBody>
      </p:sp>
    </p:spTree>
    <p:extLst>
      <p:ext uri="{BB962C8B-B14F-4D97-AF65-F5344CB8AC3E}">
        <p14:creationId xmlns:p14="http://schemas.microsoft.com/office/powerpoint/2010/main" val="3777923969"/>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3C591D85-25F6-4014-8EE4-E6701B6E93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2" name="Straight Connector 61">
              <a:extLst>
                <a:ext uri="{FF2B5EF4-FFF2-40B4-BE49-F238E27FC236}">
                  <a16:creationId xmlns:a16="http://schemas.microsoft.com/office/drawing/2014/main" id="{FD1DF05C-07BC-491B-9CAD-64494BA79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A1DD9EDF-1964-427F-B438-C9932530D1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64" name="Rectangle 23">
              <a:extLst>
                <a:ext uri="{FF2B5EF4-FFF2-40B4-BE49-F238E27FC236}">
                  <a16:creationId xmlns:a16="http://schemas.microsoft.com/office/drawing/2014/main" id="{923D52E1-E37A-48B6-B7EE-3C472F60E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5" name="Rectangle 25">
              <a:extLst>
                <a:ext uri="{FF2B5EF4-FFF2-40B4-BE49-F238E27FC236}">
                  <a16:creationId xmlns:a16="http://schemas.microsoft.com/office/drawing/2014/main" id="{9FCF87B7-DFA0-41C5-B4B3-A9F113552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6" name="Isosceles Triangle 65">
              <a:extLst>
                <a:ext uri="{FF2B5EF4-FFF2-40B4-BE49-F238E27FC236}">
                  <a16:creationId xmlns:a16="http://schemas.microsoft.com/office/drawing/2014/main" id="{7BBB45BB-64EE-4E1A-9C95-28A4874E5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7" name="Rectangle 27">
              <a:extLst>
                <a:ext uri="{FF2B5EF4-FFF2-40B4-BE49-F238E27FC236}">
                  <a16:creationId xmlns:a16="http://schemas.microsoft.com/office/drawing/2014/main" id="{F8AD2D05-9327-4180-B006-53FDBF42F6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8" name="Rectangle 28">
              <a:extLst>
                <a:ext uri="{FF2B5EF4-FFF2-40B4-BE49-F238E27FC236}">
                  <a16:creationId xmlns:a16="http://schemas.microsoft.com/office/drawing/2014/main" id="{4A50A8D2-F326-4502-8778-AB479771D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9" name="Rectangle 29">
              <a:extLst>
                <a:ext uri="{FF2B5EF4-FFF2-40B4-BE49-F238E27FC236}">
                  <a16:creationId xmlns:a16="http://schemas.microsoft.com/office/drawing/2014/main" id="{889E66B0-32A4-4375-84C1-A7612D042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0" name="Isosceles Triangle 69">
              <a:extLst>
                <a:ext uri="{FF2B5EF4-FFF2-40B4-BE49-F238E27FC236}">
                  <a16:creationId xmlns:a16="http://schemas.microsoft.com/office/drawing/2014/main" id="{C94DE422-737D-4C0B-9680-4F26E9BB4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1" name="Isosceles Triangle 70">
              <a:extLst>
                <a:ext uri="{FF2B5EF4-FFF2-40B4-BE49-F238E27FC236}">
                  <a16:creationId xmlns:a16="http://schemas.microsoft.com/office/drawing/2014/main" id="{6D453758-4D58-442F-A42B-781C5C928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cxnSp>
        <p:nvCxnSpPr>
          <p:cNvPr id="73" name="Straight Connector 72">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26DF875-3000-0D48-7026-512EEA4B0D0E}"/>
              </a:ext>
            </a:extLst>
          </p:cNvPr>
          <p:cNvSpPr>
            <a:spLocks noGrp="1"/>
          </p:cNvSpPr>
          <p:nvPr>
            <p:ph type="ctrTitle"/>
          </p:nvPr>
        </p:nvSpPr>
        <p:spPr>
          <a:xfrm>
            <a:off x="643467" y="816638"/>
            <a:ext cx="3367359" cy="5224724"/>
          </a:xfrm>
        </p:spPr>
        <p:txBody>
          <a:bodyPr vert="horz" lIns="91440" tIns="45720" rIns="91440" bIns="45720" rtlCol="0" anchor="ctr">
            <a:normAutofit/>
          </a:bodyPr>
          <a:lstStyle/>
          <a:p>
            <a:pPr algn="l"/>
            <a:r>
              <a:rPr lang="en-US" sz="3600" b="1"/>
              <a:t>SALES DATASET ANALYSIS</a:t>
            </a:r>
            <a:br>
              <a:rPr lang="en-US" sz="3600" b="1"/>
            </a:br>
            <a:r>
              <a:rPr lang="en-US" sz="3600" b="1"/>
              <a:t>ADVANCED EXCEL PROJECT</a:t>
            </a:r>
          </a:p>
        </p:txBody>
      </p:sp>
      <p:sp>
        <p:nvSpPr>
          <p:cNvPr id="56" name="TextBox 55">
            <a:extLst>
              <a:ext uri="{FF2B5EF4-FFF2-40B4-BE49-F238E27FC236}">
                <a16:creationId xmlns:a16="http://schemas.microsoft.com/office/drawing/2014/main" id="{48905083-A1CF-781D-6FFB-9BB7AA09FA83}"/>
              </a:ext>
            </a:extLst>
          </p:cNvPr>
          <p:cNvSpPr txBox="1"/>
          <p:nvPr/>
        </p:nvSpPr>
        <p:spPr>
          <a:xfrm>
            <a:off x="4654295" y="816638"/>
            <a:ext cx="4619706" cy="5224724"/>
          </a:xfrm>
          <a:prstGeom prst="rect">
            <a:avLst/>
          </a:prstGeom>
        </p:spPr>
        <p:txBody>
          <a:bodyPr vert="horz" lIns="91440" tIns="45720" rIns="91440" bIns="45720" rtlCol="0" anchor="ctr">
            <a:normAutofit/>
          </a:bodyPr>
          <a:lstStyle/>
          <a:p>
            <a:pPr>
              <a:spcBef>
                <a:spcPts val="1000"/>
              </a:spcBef>
              <a:buClr>
                <a:schemeClr val="accent1">
                  <a:lumMod val="75000"/>
                </a:schemeClr>
              </a:buClr>
              <a:buSzPct val="80000"/>
              <a:buFont typeface="Wingdings 3" charset="2"/>
              <a:buChar char=""/>
            </a:pPr>
            <a:r>
              <a:rPr lang="en-US">
                <a:solidFill>
                  <a:schemeClr val="tx1">
                    <a:lumMod val="75000"/>
                    <a:lumOff val="25000"/>
                  </a:schemeClr>
                </a:solidFill>
              </a:rPr>
              <a:t>NAME : MUHAMMED ASHIF T							DATE: 10-10-2025 </a:t>
            </a:r>
          </a:p>
          <a:p>
            <a:pPr>
              <a:spcBef>
                <a:spcPts val="1000"/>
              </a:spcBef>
              <a:buClr>
                <a:schemeClr val="accent1">
                  <a:lumMod val="75000"/>
                </a:schemeClr>
              </a:buClr>
              <a:buSzPct val="80000"/>
              <a:buFont typeface="Wingdings 3" charset="2"/>
              <a:buChar char=""/>
            </a:pPr>
            <a:endParaRPr lang="en-US">
              <a:solidFill>
                <a:schemeClr val="tx1">
                  <a:lumMod val="75000"/>
                  <a:lumOff val="25000"/>
                </a:schemeClr>
              </a:solidFill>
            </a:endParaRPr>
          </a:p>
          <a:p>
            <a:pPr>
              <a:spcBef>
                <a:spcPts val="1000"/>
              </a:spcBef>
              <a:buClr>
                <a:schemeClr val="accent1">
                  <a:lumMod val="75000"/>
                </a:schemeClr>
              </a:buClr>
              <a:buSzPct val="80000"/>
              <a:buFont typeface="Wingdings 3" charset="2"/>
              <a:buChar char=""/>
            </a:pPr>
            <a:endParaRPr lang="en-US">
              <a:solidFill>
                <a:schemeClr val="tx1">
                  <a:lumMod val="75000"/>
                  <a:lumOff val="25000"/>
                </a:schemeClr>
              </a:solidFill>
            </a:endParaRPr>
          </a:p>
          <a:p>
            <a:pPr>
              <a:spcBef>
                <a:spcPts val="1000"/>
              </a:spcBef>
              <a:buClr>
                <a:schemeClr val="accent1">
                  <a:lumMod val="75000"/>
                </a:schemeClr>
              </a:buClr>
              <a:buSzPct val="80000"/>
              <a:buFont typeface="Wingdings 3" charset="2"/>
              <a:buChar char=""/>
            </a:pPr>
            <a:r>
              <a:rPr lang="en-US">
                <a:solidFill>
                  <a:schemeClr val="tx1">
                    <a:lumMod val="75000"/>
                    <a:lumOff val="25000"/>
                  </a:schemeClr>
                </a:solidFill>
              </a:rPr>
              <a:t>COURSE: DATA ANALYTICS &amp; DATA SCIENCE					BATCH: AUGUST-2025  </a:t>
            </a:r>
          </a:p>
        </p:txBody>
      </p:sp>
    </p:spTree>
    <p:extLst>
      <p:ext uri="{BB962C8B-B14F-4D97-AF65-F5344CB8AC3E}">
        <p14:creationId xmlns:p14="http://schemas.microsoft.com/office/powerpoint/2010/main" val="3228555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46A17-2249-754D-5A39-AA78C8E5E64A}"/>
              </a:ext>
            </a:extLst>
          </p:cNvPr>
          <p:cNvSpPr>
            <a:spLocks noGrp="1"/>
          </p:cNvSpPr>
          <p:nvPr>
            <p:ph type="title"/>
          </p:nvPr>
        </p:nvSpPr>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PROJECT OBJECTIVES AND OVERVIEW</a:t>
            </a:r>
          </a:p>
        </p:txBody>
      </p:sp>
      <p:sp>
        <p:nvSpPr>
          <p:cNvPr id="4" name="Rectangle 1">
            <a:extLst>
              <a:ext uri="{FF2B5EF4-FFF2-40B4-BE49-F238E27FC236}">
                <a16:creationId xmlns:a16="http://schemas.microsoft.com/office/drawing/2014/main" id="{C54E759E-6D7B-A474-57E0-81376CDA69A6}"/>
              </a:ext>
            </a:extLst>
          </p:cNvPr>
          <p:cNvSpPr>
            <a:spLocks noGrp="1" noChangeArrowheads="1"/>
          </p:cNvSpPr>
          <p:nvPr>
            <p:ph idx="1"/>
          </p:nvPr>
        </p:nvSpPr>
        <p:spPr bwMode="auto">
          <a:xfrm>
            <a:off x="629264" y="1477749"/>
            <a:ext cx="8692808" cy="4204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PROJECT OBJECTIVES</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  To analyze sales data and generate actionable insights that drive strategic business     </a:t>
            </a:r>
            <a:b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 decisions and performance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GOALS</a:t>
            </a: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Tracking sales trends to identify patterns and growth opportunities</a:t>
            </a: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Highlighting top-performing products, categories, and channels</a:t>
            </a: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Analyze the impact of discounts and returns on sales and profitability</a:t>
            </a: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Identifying underperforming segments and suggested data-driven improvements</a:t>
            </a: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Delivering actionable recommendations to enhance business performance</a:t>
            </a: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571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A308-5BBD-97F6-45B9-2DF3768E3CC3}"/>
              </a:ext>
            </a:extLst>
          </p:cNvPr>
          <p:cNvSpPr>
            <a:spLocks noGrp="1"/>
          </p:cNvSpPr>
          <p:nvPr>
            <p:ph type="title"/>
          </p:nvPr>
        </p:nvSpPr>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DATA DESCRIPTION AND PREPARATION</a:t>
            </a:r>
          </a:p>
        </p:txBody>
      </p:sp>
      <p:sp>
        <p:nvSpPr>
          <p:cNvPr id="3" name="Content Placeholder 2">
            <a:extLst>
              <a:ext uri="{FF2B5EF4-FFF2-40B4-BE49-F238E27FC236}">
                <a16:creationId xmlns:a16="http://schemas.microsoft.com/office/drawing/2014/main" id="{42A2D280-C2DA-7FC0-6CC3-126DD79FC757}"/>
              </a:ext>
            </a:extLst>
          </p:cNvPr>
          <p:cNvSpPr>
            <a:spLocks noGrp="1"/>
          </p:cNvSpPr>
          <p:nvPr>
            <p:ph idx="1"/>
          </p:nvPr>
        </p:nvSpPr>
        <p:spPr>
          <a:xfrm>
            <a:off x="677334" y="1619815"/>
            <a:ext cx="8596668" cy="4898972"/>
          </a:xfrm>
        </p:spPr>
        <p:txBody>
          <a:bodyPr>
            <a:normAutofit/>
          </a:bodyPr>
          <a:lstStyle/>
          <a:p>
            <a:pPr marL="0" indent="0">
              <a:buNone/>
            </a:pPr>
            <a:r>
              <a:rPr lang="en-IN" sz="2000" b="1" dirty="0">
                <a:latin typeface="Calibri" panose="020F0502020204030204" pitchFamily="34" charset="0"/>
                <a:ea typeface="Calibri" panose="020F0502020204030204" pitchFamily="34" charset="0"/>
                <a:cs typeface="Calibri" panose="020F0502020204030204" pitchFamily="34" charset="0"/>
              </a:rPr>
              <a:t>DATASET OVERVIEW:</a:t>
            </a:r>
          </a:p>
          <a:p>
            <a:pPr>
              <a:buClr>
                <a:schemeClr val="tx1"/>
              </a:buCl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 The Superstore Sales Dataset contains 9994 rows and includes 21 columns which are Row Id, Order Id, Order Date, Ship Date, Ship Mode, Customer Id, Customer Name, Segment, Country, City, State, Postal Code, Region, Product Id, Category, Sub-Category, Product Name, Sales, Quantity, Discount and Profit.</a:t>
            </a: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b="1" dirty="0"/>
              <a:t>	</a:t>
            </a:r>
            <a:r>
              <a:rPr lang="en-IN" sz="2000" b="1" dirty="0">
                <a:latin typeface="Calibri" panose="020F0502020204030204" pitchFamily="34" charset="0"/>
                <a:ea typeface="Calibri" panose="020F0502020204030204" pitchFamily="34" charset="0"/>
                <a:cs typeface="Calibri" panose="020F0502020204030204" pitchFamily="34" charset="0"/>
              </a:rPr>
              <a:t>DATA CLEANING PROCESS :</a:t>
            </a:r>
          </a:p>
          <a:p>
            <a:pPr>
              <a:buClr>
                <a:schemeClr val="tx1">
                  <a:lumMod val="95000"/>
                  <a:lumOff val="5000"/>
                </a:schemeClr>
              </a:buClr>
              <a:buFont typeface="Arial" panose="020B0604020202020204" pitchFamily="34" charset="0"/>
              <a:buChar char="•"/>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Removing duplicate values and blank entries.</a:t>
            </a:r>
          </a:p>
          <a:p>
            <a:pPr>
              <a:buClr>
                <a:schemeClr val="tx1"/>
              </a:buClr>
              <a:buFont typeface="Arial" panose="020B0604020202020204" pitchFamily="34" charset="0"/>
              <a:buChar char="•"/>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Handling missing values.</a:t>
            </a:r>
          </a:p>
          <a:p>
            <a:pPr>
              <a:buClr>
                <a:schemeClr val="tx1"/>
              </a:buClr>
              <a:buFont typeface="Arial" panose="020B0604020202020204" pitchFamily="34" charset="0"/>
              <a:buChar char="•"/>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Correcting negative values and inconsistent data.</a:t>
            </a:r>
          </a:p>
          <a:p>
            <a:pPr>
              <a:buClr>
                <a:schemeClr val="tx1"/>
              </a:buClr>
              <a:buFont typeface="Arial" panose="020B0604020202020204" pitchFamily="34" charset="0"/>
              <a:buChar char="•"/>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Formatting column names for readability.</a:t>
            </a:r>
          </a:p>
          <a:p>
            <a:pPr>
              <a:buClr>
                <a:schemeClr val="tx1"/>
              </a:buClr>
              <a:buFont typeface="Arial" panose="020B0604020202020204" pitchFamily="34" charset="0"/>
              <a:buChar char="•"/>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Applying date formatting for date related columns.</a:t>
            </a:r>
          </a:p>
          <a:p>
            <a:pPr>
              <a:buFont typeface="Wingdings" panose="05000000000000000000" pitchFamily="2" charset="2"/>
              <a:buChar char="§"/>
            </a:pPr>
            <a:endParaRPr lang="en-IN" dirty="0"/>
          </a:p>
        </p:txBody>
      </p:sp>
      <p:pic>
        <p:nvPicPr>
          <p:cNvPr id="5" name="Graphic 4" descr="Large paint brush with solid fill">
            <a:extLst>
              <a:ext uri="{FF2B5EF4-FFF2-40B4-BE49-F238E27FC236}">
                <a16:creationId xmlns:a16="http://schemas.microsoft.com/office/drawing/2014/main" id="{F3FDBE56-7630-BA9D-3769-982DC69ED4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334" y="3639574"/>
            <a:ext cx="490247" cy="490247"/>
          </a:xfrm>
          <a:prstGeom prst="rect">
            <a:avLst/>
          </a:prstGeom>
        </p:spPr>
      </p:pic>
    </p:spTree>
    <p:extLst>
      <p:ext uri="{BB962C8B-B14F-4D97-AF65-F5344CB8AC3E}">
        <p14:creationId xmlns:p14="http://schemas.microsoft.com/office/powerpoint/2010/main" val="3524860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35DD7-BE5F-BA3B-AD00-283602CE9E39}"/>
              </a:ext>
            </a:extLst>
          </p:cNvPr>
          <p:cNvSpPr>
            <a:spLocks noGrp="1"/>
          </p:cNvSpPr>
          <p:nvPr>
            <p:ph type="title"/>
          </p:nvPr>
        </p:nvSpPr>
        <p:spPr>
          <a:xfrm>
            <a:off x="363794" y="251460"/>
            <a:ext cx="8596668" cy="84718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VISUALS</a:t>
            </a:r>
          </a:p>
        </p:txBody>
      </p:sp>
      <p:sp>
        <p:nvSpPr>
          <p:cNvPr id="3" name="Content Placeholder 2">
            <a:extLst>
              <a:ext uri="{FF2B5EF4-FFF2-40B4-BE49-F238E27FC236}">
                <a16:creationId xmlns:a16="http://schemas.microsoft.com/office/drawing/2014/main" id="{5F76A6F4-9A73-5C57-7F2E-DA29C8D0A344}"/>
              </a:ext>
            </a:extLst>
          </p:cNvPr>
          <p:cNvSpPr>
            <a:spLocks noGrp="1"/>
          </p:cNvSpPr>
          <p:nvPr>
            <p:ph idx="1"/>
          </p:nvPr>
        </p:nvSpPr>
        <p:spPr>
          <a:xfrm>
            <a:off x="5110288" y="1021300"/>
            <a:ext cx="1971423" cy="435127"/>
          </a:xfrm>
        </p:spPr>
        <p:txBody>
          <a:bodyPr>
            <a:normAutofit/>
          </a:bodyPr>
          <a:lstStyle/>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CLEANED DATA</a:t>
            </a:r>
          </a:p>
        </p:txBody>
      </p:sp>
      <p:pic>
        <p:nvPicPr>
          <p:cNvPr id="5" name="Picture 4">
            <a:extLst>
              <a:ext uri="{FF2B5EF4-FFF2-40B4-BE49-F238E27FC236}">
                <a16:creationId xmlns:a16="http://schemas.microsoft.com/office/drawing/2014/main" id="{1F03DD52-2152-CEEF-DDD1-1F4406F9AD04}"/>
              </a:ext>
            </a:extLst>
          </p:cNvPr>
          <p:cNvPicPr>
            <a:picLocks noChangeAspect="1"/>
          </p:cNvPicPr>
          <p:nvPr/>
        </p:nvPicPr>
        <p:blipFill>
          <a:blip r:embed="rId2"/>
          <a:stretch>
            <a:fillRect/>
          </a:stretch>
        </p:blipFill>
        <p:spPr>
          <a:xfrm>
            <a:off x="363794" y="1533766"/>
            <a:ext cx="4493341" cy="3343034"/>
          </a:xfrm>
          <a:prstGeom prst="rect">
            <a:avLst/>
          </a:prstGeom>
        </p:spPr>
      </p:pic>
      <p:sp>
        <p:nvSpPr>
          <p:cNvPr id="9" name="Content Placeholder 2">
            <a:extLst>
              <a:ext uri="{FF2B5EF4-FFF2-40B4-BE49-F238E27FC236}">
                <a16:creationId xmlns:a16="http://schemas.microsoft.com/office/drawing/2014/main" id="{B5E99733-5492-3FAD-8DBB-B0E8AC98A9C5}"/>
              </a:ext>
            </a:extLst>
          </p:cNvPr>
          <p:cNvSpPr txBox="1">
            <a:spLocks/>
          </p:cNvSpPr>
          <p:nvPr/>
        </p:nvSpPr>
        <p:spPr>
          <a:xfrm>
            <a:off x="425874" y="1098640"/>
            <a:ext cx="1608666" cy="43512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dirty="0">
                <a:latin typeface="Calibri" panose="020F0502020204030204" pitchFamily="34" charset="0"/>
                <a:ea typeface="Calibri" panose="020F0502020204030204" pitchFamily="34" charset="0"/>
                <a:cs typeface="Calibri" panose="020F0502020204030204" pitchFamily="34" charset="0"/>
              </a:rPr>
              <a:t>RAW DATA</a:t>
            </a:r>
          </a:p>
        </p:txBody>
      </p:sp>
      <p:pic>
        <p:nvPicPr>
          <p:cNvPr id="11" name="Picture 10">
            <a:extLst>
              <a:ext uri="{FF2B5EF4-FFF2-40B4-BE49-F238E27FC236}">
                <a16:creationId xmlns:a16="http://schemas.microsoft.com/office/drawing/2014/main" id="{A2E9FE44-BC20-6D42-280B-78291EC2C6F1}"/>
              </a:ext>
            </a:extLst>
          </p:cNvPr>
          <p:cNvPicPr>
            <a:picLocks noChangeAspect="1"/>
          </p:cNvPicPr>
          <p:nvPr/>
        </p:nvPicPr>
        <p:blipFill>
          <a:blip r:embed="rId3"/>
          <a:stretch>
            <a:fillRect/>
          </a:stretch>
        </p:blipFill>
        <p:spPr>
          <a:xfrm>
            <a:off x="5088194" y="1533766"/>
            <a:ext cx="4493341" cy="3343034"/>
          </a:xfrm>
          <a:prstGeom prst="rect">
            <a:avLst/>
          </a:prstGeom>
        </p:spPr>
      </p:pic>
    </p:spTree>
    <p:extLst>
      <p:ext uri="{BB962C8B-B14F-4D97-AF65-F5344CB8AC3E}">
        <p14:creationId xmlns:p14="http://schemas.microsoft.com/office/powerpoint/2010/main" val="274329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CF61F-5360-4890-3108-3F74BD4AF857}"/>
              </a:ext>
            </a:extLst>
          </p:cNvPr>
          <p:cNvSpPr>
            <a:spLocks noGrp="1"/>
          </p:cNvSpPr>
          <p:nvPr>
            <p:ph type="title"/>
          </p:nvPr>
        </p:nvSpPr>
        <p:spPr>
          <a:xfrm>
            <a:off x="677334" y="609600"/>
            <a:ext cx="8596668" cy="75438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KEY METRICS AND DATA ANALYSIS</a:t>
            </a:r>
          </a:p>
        </p:txBody>
      </p:sp>
      <p:sp>
        <p:nvSpPr>
          <p:cNvPr id="3" name="Content Placeholder 2">
            <a:extLst>
              <a:ext uri="{FF2B5EF4-FFF2-40B4-BE49-F238E27FC236}">
                <a16:creationId xmlns:a16="http://schemas.microsoft.com/office/drawing/2014/main" id="{EAC90479-12B4-A2EB-D77D-019AEFE99CCB}"/>
              </a:ext>
            </a:extLst>
          </p:cNvPr>
          <p:cNvSpPr>
            <a:spLocks noGrp="1"/>
          </p:cNvSpPr>
          <p:nvPr>
            <p:ph idx="1"/>
          </p:nvPr>
        </p:nvSpPr>
        <p:spPr>
          <a:xfrm>
            <a:off x="753534" y="1291909"/>
            <a:ext cx="8596668" cy="3880773"/>
          </a:xfrm>
        </p:spPr>
        <p:txBody>
          <a:bodyPr/>
          <a:lstStyle/>
          <a:p>
            <a:pPr marL="0" indent="0">
              <a:buNone/>
            </a:pPr>
            <a:r>
              <a:rPr lang="en-IN" b="1" dirty="0">
                <a:latin typeface="Calibri" panose="020F0502020204030204" pitchFamily="34" charset="0"/>
                <a:ea typeface="Calibri" panose="020F0502020204030204" pitchFamily="34" charset="0"/>
                <a:cs typeface="Calibri" panose="020F0502020204030204" pitchFamily="34" charset="0"/>
              </a:rPr>
              <a:t>Key Metrics</a:t>
            </a:r>
          </a:p>
          <a:p>
            <a:pPr>
              <a:buClr>
                <a:schemeClr val="tx1">
                  <a:lumMod val="95000"/>
                  <a:lumOff val="5000"/>
                </a:schemeClr>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REVENUE = SUM(ADJUSTED SALES)</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COUNT     = SUM(ADJUSTED SALES)</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AVERAGE SALES  = AVERAGE(ADJUSTED SALES)</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DISCOUNT VALUE = SUM (DISCOUNT VALUE)</a:t>
            </a:r>
          </a:p>
          <a:p>
            <a:pPr marL="0" indent="0">
              <a:buNone/>
            </a:pPr>
            <a:r>
              <a:rPr lang="en-IN" b="1" dirty="0">
                <a:latin typeface="Calibri" panose="020F0502020204030204" pitchFamily="34" charset="0"/>
                <a:ea typeface="Calibri" panose="020F0502020204030204" pitchFamily="34" charset="0"/>
                <a:cs typeface="Calibri" panose="020F0502020204030204" pitchFamily="34" charset="0"/>
              </a:rPr>
              <a:t>SALES BY CHANNEL/PRODUCT TYPE</a:t>
            </a:r>
          </a:p>
          <a:p>
            <a:pPr>
              <a:buClr>
                <a:schemeClr val="tx1"/>
              </a:buClr>
              <a:buFont typeface="Arial" panose="020B0604020202020204" pitchFamily="34" charset="0"/>
              <a:buChar char="•"/>
            </a:pPr>
            <a:r>
              <a:rPr lang="en-IN" dirty="0">
                <a:latin typeface="Calibri(BODY)"/>
                <a:cs typeface="Calibri" panose="020F0502020204030204" pitchFamily="34" charset="0"/>
              </a:rPr>
              <a:t>COUNTIF = Calculate the Total Order </a:t>
            </a:r>
          </a:p>
          <a:p>
            <a:pPr>
              <a:buClr>
                <a:schemeClr val="tx1"/>
              </a:buClr>
              <a:buFont typeface="Arial" panose="020B0604020202020204" pitchFamily="34" charset="0"/>
              <a:buChar char="•"/>
            </a:pPr>
            <a:r>
              <a:rPr lang="en-IN" dirty="0">
                <a:latin typeface="Calibri(BODY)"/>
                <a:cs typeface="Calibri" panose="020F0502020204030204" pitchFamily="34" charset="0"/>
              </a:rPr>
              <a:t>AVERAGEIF = Calculate the Average Discount</a:t>
            </a:r>
            <a:endParaRPr lang="en-IN" dirty="0"/>
          </a:p>
        </p:txBody>
      </p:sp>
      <p:pic>
        <p:nvPicPr>
          <p:cNvPr id="5" name="Picture 4">
            <a:extLst>
              <a:ext uri="{FF2B5EF4-FFF2-40B4-BE49-F238E27FC236}">
                <a16:creationId xmlns:a16="http://schemas.microsoft.com/office/drawing/2014/main" id="{808F5F33-3C0B-C52D-A556-106675F79917}"/>
              </a:ext>
            </a:extLst>
          </p:cNvPr>
          <p:cNvPicPr>
            <a:picLocks noChangeAspect="1"/>
          </p:cNvPicPr>
          <p:nvPr/>
        </p:nvPicPr>
        <p:blipFill>
          <a:blip r:embed="rId2"/>
          <a:stretch>
            <a:fillRect/>
          </a:stretch>
        </p:blipFill>
        <p:spPr>
          <a:xfrm>
            <a:off x="6096000" y="1517577"/>
            <a:ext cx="2800741" cy="1057423"/>
          </a:xfrm>
          <a:prstGeom prst="rect">
            <a:avLst/>
          </a:prstGeom>
        </p:spPr>
      </p:pic>
      <p:pic>
        <p:nvPicPr>
          <p:cNvPr id="7" name="Picture 6">
            <a:extLst>
              <a:ext uri="{FF2B5EF4-FFF2-40B4-BE49-F238E27FC236}">
                <a16:creationId xmlns:a16="http://schemas.microsoft.com/office/drawing/2014/main" id="{87320762-2073-578B-60D8-BC79FEEA5C37}"/>
              </a:ext>
            </a:extLst>
          </p:cNvPr>
          <p:cNvPicPr>
            <a:picLocks noChangeAspect="1"/>
          </p:cNvPicPr>
          <p:nvPr/>
        </p:nvPicPr>
        <p:blipFill>
          <a:blip r:embed="rId3"/>
          <a:stretch>
            <a:fillRect/>
          </a:stretch>
        </p:blipFill>
        <p:spPr>
          <a:xfrm>
            <a:off x="6115053" y="2667807"/>
            <a:ext cx="2781688" cy="2086266"/>
          </a:xfrm>
          <a:prstGeom prst="rect">
            <a:avLst/>
          </a:prstGeom>
        </p:spPr>
      </p:pic>
    </p:spTree>
    <p:extLst>
      <p:ext uri="{BB962C8B-B14F-4D97-AF65-F5344CB8AC3E}">
        <p14:creationId xmlns:p14="http://schemas.microsoft.com/office/powerpoint/2010/main" val="3663345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54A0-670B-78FB-0688-6E9B8D9C87DF}"/>
              </a:ext>
            </a:extLst>
          </p:cNvPr>
          <p:cNvSpPr>
            <a:spLocks noGrp="1"/>
          </p:cNvSpPr>
          <p:nvPr>
            <p:ph type="title"/>
          </p:nvPr>
        </p:nvSpPr>
        <p:spPr>
          <a:xfrm>
            <a:off x="677334" y="609600"/>
            <a:ext cx="8596668" cy="746760"/>
          </a:xfrm>
        </p:spPr>
        <p:txBody>
          <a:body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PIVOT TABLES AND PIVOT CHARTS </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7AC87F1-39DB-BBBE-A0CE-6CC419E11AC0}"/>
              </a:ext>
            </a:extLst>
          </p:cNvPr>
          <p:cNvSpPr>
            <a:spLocks noGrp="1"/>
          </p:cNvSpPr>
          <p:nvPr>
            <p:ph idx="1"/>
          </p:nvPr>
        </p:nvSpPr>
        <p:spPr>
          <a:xfrm>
            <a:off x="677334" y="1584960"/>
            <a:ext cx="8596668" cy="3695700"/>
          </a:xfrm>
        </p:spPr>
        <p:txBody>
          <a:bodyPr>
            <a:normAutofit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Pivot Table Summary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PivotTables enabled multidimensional analysis of sales data, facilitating a detailed examination by channel, product type, and time period. Through aggregation, grouping, and filtering, large datasets were efficiently summarized to identify key trends and revenue drivers. These insights played a vital role in guiding data-driven strategic decisions.</a:t>
            </a:r>
          </a:p>
          <a:p>
            <a:pPr marL="0" indent="0">
              <a:buNone/>
            </a:pPr>
            <a:r>
              <a:rPr lang="en-IN" b="1" dirty="0">
                <a:latin typeface="Calibri" panose="020F0502020204030204" pitchFamily="34" charset="0"/>
                <a:ea typeface="Calibri" panose="020F0502020204030204" pitchFamily="34" charset="0"/>
                <a:cs typeface="Calibri" panose="020F0502020204030204" pitchFamily="34" charset="0"/>
              </a:rPr>
              <a:t>Pivot Chart Visualizations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implementation of </a:t>
            </a:r>
            <a:r>
              <a:rPr lang="en-US" dirty="0" err="1">
                <a:latin typeface="Calibri" panose="020F0502020204030204" pitchFamily="34" charset="0"/>
                <a:ea typeface="Calibri" panose="020F0502020204030204" pitchFamily="34" charset="0"/>
                <a:cs typeface="Calibri" panose="020F0502020204030204" pitchFamily="34" charset="0"/>
              </a:rPr>
              <a:t>PivotCharts</a:t>
            </a:r>
            <a:r>
              <a:rPr lang="en-US" dirty="0">
                <a:latin typeface="Calibri" panose="020F0502020204030204" pitchFamily="34" charset="0"/>
                <a:ea typeface="Calibri" panose="020F0502020204030204" pitchFamily="34" charset="0"/>
                <a:cs typeface="Calibri" panose="020F0502020204030204" pitchFamily="34" charset="0"/>
              </a:rPr>
              <a:t> enabled a comprehensive visualization of sales patterns across time and product categories. Through comparative and trend-based analysis, the charts revealed variations in performance. This visual representation transformed raw data into actionable insights, facilitating informed and strategic business planning.</a:t>
            </a: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8323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9676-AA83-A288-1B40-1DE528632F08}"/>
              </a:ext>
            </a:extLst>
          </p:cNvPr>
          <p:cNvSpPr>
            <a:spLocks noGrp="1"/>
          </p:cNvSpPr>
          <p:nvPr>
            <p:ph type="title"/>
          </p:nvPr>
        </p:nvSpPr>
        <p:spPr>
          <a:xfrm>
            <a:off x="677334" y="609599"/>
            <a:ext cx="8596668" cy="745333"/>
          </a:xfrm>
        </p:spPr>
        <p:txBody>
          <a:body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PIVOT TABLES AND PIVOT CHARTS </a:t>
            </a:r>
            <a:endParaRPr lang="en-IN" b="1" dirty="0"/>
          </a:p>
        </p:txBody>
      </p:sp>
      <p:sp>
        <p:nvSpPr>
          <p:cNvPr id="3" name="Content Placeholder 2">
            <a:extLst>
              <a:ext uri="{FF2B5EF4-FFF2-40B4-BE49-F238E27FC236}">
                <a16:creationId xmlns:a16="http://schemas.microsoft.com/office/drawing/2014/main" id="{BC7E1FBE-DA9B-2DD1-5D99-8AFE664DD937}"/>
              </a:ext>
            </a:extLst>
          </p:cNvPr>
          <p:cNvSpPr>
            <a:spLocks noGrp="1"/>
          </p:cNvSpPr>
          <p:nvPr>
            <p:ph idx="1"/>
          </p:nvPr>
        </p:nvSpPr>
        <p:spPr>
          <a:xfrm>
            <a:off x="756981" y="1289766"/>
            <a:ext cx="1281006" cy="414971"/>
          </a:xfrm>
        </p:spPr>
        <p:txBody>
          <a:bodyPr/>
          <a:lstStyle/>
          <a:p>
            <a:pPr marL="0" indent="0">
              <a:buNone/>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VISUALS</a:t>
            </a:r>
          </a:p>
        </p:txBody>
      </p:sp>
      <p:pic>
        <p:nvPicPr>
          <p:cNvPr id="5" name="Picture 4">
            <a:extLst>
              <a:ext uri="{FF2B5EF4-FFF2-40B4-BE49-F238E27FC236}">
                <a16:creationId xmlns:a16="http://schemas.microsoft.com/office/drawing/2014/main" id="{370A179F-E8E0-A94C-DE62-D9516EF34C14}"/>
              </a:ext>
            </a:extLst>
          </p:cNvPr>
          <p:cNvPicPr>
            <a:picLocks noChangeAspect="1"/>
          </p:cNvPicPr>
          <p:nvPr/>
        </p:nvPicPr>
        <p:blipFill>
          <a:blip r:embed="rId2"/>
          <a:stretch>
            <a:fillRect/>
          </a:stretch>
        </p:blipFill>
        <p:spPr>
          <a:xfrm>
            <a:off x="1189271" y="2035099"/>
            <a:ext cx="3667637" cy="1114581"/>
          </a:xfrm>
          <a:prstGeom prst="rect">
            <a:avLst/>
          </a:prstGeom>
        </p:spPr>
      </p:pic>
      <p:sp>
        <p:nvSpPr>
          <p:cNvPr id="7" name="Content Placeholder 2">
            <a:extLst>
              <a:ext uri="{FF2B5EF4-FFF2-40B4-BE49-F238E27FC236}">
                <a16:creationId xmlns:a16="http://schemas.microsoft.com/office/drawing/2014/main" id="{88CA8FA5-5483-4AEA-0FF8-873324F43EBF}"/>
              </a:ext>
            </a:extLst>
          </p:cNvPr>
          <p:cNvSpPr txBox="1">
            <a:spLocks/>
          </p:cNvSpPr>
          <p:nvPr/>
        </p:nvSpPr>
        <p:spPr>
          <a:xfrm>
            <a:off x="756981" y="3221514"/>
            <a:ext cx="1281006" cy="414971"/>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dirty="0"/>
              <a:t>Pivot Chart</a:t>
            </a:r>
          </a:p>
        </p:txBody>
      </p:sp>
      <p:sp>
        <p:nvSpPr>
          <p:cNvPr id="8" name="Content Placeholder 2">
            <a:extLst>
              <a:ext uri="{FF2B5EF4-FFF2-40B4-BE49-F238E27FC236}">
                <a16:creationId xmlns:a16="http://schemas.microsoft.com/office/drawing/2014/main" id="{4BD358CD-452A-C191-0A0C-84F4A0705D4A}"/>
              </a:ext>
            </a:extLst>
          </p:cNvPr>
          <p:cNvSpPr txBox="1">
            <a:spLocks/>
          </p:cNvSpPr>
          <p:nvPr/>
        </p:nvSpPr>
        <p:spPr>
          <a:xfrm>
            <a:off x="756981" y="1656874"/>
            <a:ext cx="1281006" cy="41497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Pivot Table</a:t>
            </a:r>
          </a:p>
        </p:txBody>
      </p:sp>
      <p:pic>
        <p:nvPicPr>
          <p:cNvPr id="12" name="Picture 11">
            <a:extLst>
              <a:ext uri="{FF2B5EF4-FFF2-40B4-BE49-F238E27FC236}">
                <a16:creationId xmlns:a16="http://schemas.microsoft.com/office/drawing/2014/main" id="{F42B67F4-40ED-92ED-8C90-B5728354A2EF}"/>
              </a:ext>
            </a:extLst>
          </p:cNvPr>
          <p:cNvPicPr>
            <a:picLocks noChangeAspect="1"/>
          </p:cNvPicPr>
          <p:nvPr/>
        </p:nvPicPr>
        <p:blipFill>
          <a:blip r:embed="rId3"/>
          <a:stretch>
            <a:fillRect/>
          </a:stretch>
        </p:blipFill>
        <p:spPr>
          <a:xfrm>
            <a:off x="1189271" y="3636485"/>
            <a:ext cx="5744377" cy="2643822"/>
          </a:xfrm>
          <a:prstGeom prst="rect">
            <a:avLst/>
          </a:prstGeom>
        </p:spPr>
      </p:pic>
    </p:spTree>
    <p:extLst>
      <p:ext uri="{BB962C8B-B14F-4D97-AF65-F5344CB8AC3E}">
        <p14:creationId xmlns:p14="http://schemas.microsoft.com/office/powerpoint/2010/main" val="1235913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A3F7-C02D-4D42-A1DA-A4499EC6E643}"/>
              </a:ext>
            </a:extLst>
          </p:cNvPr>
          <p:cNvSpPr>
            <a:spLocks noGrp="1"/>
          </p:cNvSpPr>
          <p:nvPr>
            <p:ph type="title"/>
          </p:nvPr>
        </p:nvSpPr>
        <p:spPr>
          <a:xfrm>
            <a:off x="677334" y="609600"/>
            <a:ext cx="8596668" cy="73152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DASHBOARD OVERVIEW</a:t>
            </a:r>
          </a:p>
        </p:txBody>
      </p:sp>
      <p:sp>
        <p:nvSpPr>
          <p:cNvPr id="3" name="Content Placeholder 2">
            <a:extLst>
              <a:ext uri="{FF2B5EF4-FFF2-40B4-BE49-F238E27FC236}">
                <a16:creationId xmlns:a16="http://schemas.microsoft.com/office/drawing/2014/main" id="{6FF57365-989B-FB18-F4BB-7E9B7B9048D1}"/>
              </a:ext>
            </a:extLst>
          </p:cNvPr>
          <p:cNvSpPr>
            <a:spLocks noGrp="1"/>
          </p:cNvSpPr>
          <p:nvPr>
            <p:ph idx="1"/>
          </p:nvPr>
        </p:nvSpPr>
        <p:spPr>
          <a:xfrm>
            <a:off x="677334" y="1429069"/>
            <a:ext cx="8596668" cy="3880773"/>
          </a:xfrm>
        </p:spPr>
        <p:txBody>
          <a:bodyPr/>
          <a:lstStyle/>
          <a:p>
            <a:pPr>
              <a:buClr>
                <a:schemeClr val="tx1"/>
              </a:buClr>
              <a:buFont typeface="Arial" panose="020B0604020202020204" pitchFamily="34" charset="0"/>
              <a:buChar char="•"/>
            </a:pPr>
            <a:r>
              <a:rPr lang="en-US" dirty="0"/>
              <a:t>The Dashboard is designed to deliver an interactive overview of key business metrics using visualization charts.</a:t>
            </a:r>
          </a:p>
          <a:p>
            <a:pPr>
              <a:buClr>
                <a:schemeClr val="tx1"/>
              </a:buClr>
              <a:buFont typeface="Arial" panose="020B0604020202020204" pitchFamily="34" charset="0"/>
              <a:buChar char="•"/>
            </a:pPr>
            <a:r>
              <a:rPr lang="en-US" dirty="0"/>
              <a:t>We also use interactive filters like Slicers to quickly and dynamically segment data for more focused data analysis.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Key Performance Indicators (KPI):</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Total Sales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Best Selling Products</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Average Order Value</a:t>
            </a:r>
          </a:p>
          <a:p>
            <a:pPr>
              <a:buClr>
                <a:schemeClr val="tx1"/>
              </a:buCl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Total Discount</a:t>
            </a:r>
          </a:p>
          <a:p>
            <a:pPr>
              <a:buClr>
                <a:schemeClr val="tx1"/>
              </a:buCl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Total orders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152276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9808-90BB-0ABC-502B-98F3268B4BC7}"/>
              </a:ext>
            </a:extLst>
          </p:cNvPr>
          <p:cNvSpPr>
            <a:spLocks noGrp="1"/>
          </p:cNvSpPr>
          <p:nvPr>
            <p:ph type="title"/>
          </p:nvPr>
        </p:nvSpPr>
        <p:spPr>
          <a:xfrm>
            <a:off x="524934" y="60960"/>
            <a:ext cx="8596668" cy="1320800"/>
          </a:xfrm>
        </p:spPr>
        <p:txBody>
          <a:body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SUPERSTORE SALES DASHBOARD</a:t>
            </a:r>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F875512-FBFB-82B3-B38B-F94079644A1E}"/>
              </a:ext>
            </a:extLst>
          </p:cNvPr>
          <p:cNvPicPr>
            <a:picLocks noChangeAspect="1"/>
          </p:cNvPicPr>
          <p:nvPr/>
        </p:nvPicPr>
        <p:blipFill>
          <a:blip r:embed="rId2"/>
          <a:stretch>
            <a:fillRect/>
          </a:stretch>
        </p:blipFill>
        <p:spPr>
          <a:xfrm>
            <a:off x="388620" y="815340"/>
            <a:ext cx="9235440" cy="5486400"/>
          </a:xfrm>
          <a:prstGeom prst="rect">
            <a:avLst/>
          </a:prstGeom>
        </p:spPr>
      </p:pic>
    </p:spTree>
    <p:extLst>
      <p:ext uri="{BB962C8B-B14F-4D97-AF65-F5344CB8AC3E}">
        <p14:creationId xmlns:p14="http://schemas.microsoft.com/office/powerpoint/2010/main" val="1019743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76C5-ECAF-D151-5428-5298E1BA01DD}"/>
              </a:ext>
            </a:extLst>
          </p:cNvPr>
          <p:cNvSpPr>
            <a:spLocks noGrp="1"/>
          </p:cNvSpPr>
          <p:nvPr>
            <p:ph type="title"/>
          </p:nvPr>
        </p:nvSpPr>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WHAT-IF ANALYSIS</a:t>
            </a:r>
          </a:p>
        </p:txBody>
      </p:sp>
      <p:sp>
        <p:nvSpPr>
          <p:cNvPr id="3" name="Content Placeholder 2">
            <a:extLst>
              <a:ext uri="{FF2B5EF4-FFF2-40B4-BE49-F238E27FC236}">
                <a16:creationId xmlns:a16="http://schemas.microsoft.com/office/drawing/2014/main" id="{DCAFCBF2-7DC9-35D6-AC56-5BCA01DC7F9B}"/>
              </a:ext>
            </a:extLst>
          </p:cNvPr>
          <p:cNvSpPr>
            <a:spLocks noGrp="1"/>
          </p:cNvSpPr>
          <p:nvPr>
            <p:ph idx="1"/>
          </p:nvPr>
        </p:nvSpPr>
        <p:spPr>
          <a:xfrm>
            <a:off x="677334" y="1348741"/>
            <a:ext cx="8596668" cy="4692622"/>
          </a:xfrm>
        </p:spPr>
        <p:txBody>
          <a:bodyPr>
            <a:normAutofit fontScale="85000"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Objective</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To determine the required quantity of Furniture items needed to achieve a total sales target of ₹7,00,000.</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Initial Data:</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Price per unit: ₹ 77.04,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Initial Quantity: 8028 units ,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Initial Sales: ₹6,18,483.25</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Method Used:</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Excel’s Goal Seek feature was applied with the following parameters: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Set Cell: D6 (Furniture Sales)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To Value: ₹7,00,000</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By Changing Cell: C6 (Quantity)</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Result: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Updated Quantity: 9086.09 units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Updated Sales: ₹7,00,000</a:t>
            </a:r>
          </a:p>
          <a:p>
            <a:endParaRPr lang="en-IN" dirty="0"/>
          </a:p>
        </p:txBody>
      </p:sp>
    </p:spTree>
    <p:extLst>
      <p:ext uri="{BB962C8B-B14F-4D97-AF65-F5344CB8AC3E}">
        <p14:creationId xmlns:p14="http://schemas.microsoft.com/office/powerpoint/2010/main" val="1924203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7C7CB-2910-175B-930F-23258FE21EF0}"/>
              </a:ext>
            </a:extLst>
          </p:cNvPr>
          <p:cNvSpPr>
            <a:spLocks noGrp="1"/>
          </p:cNvSpPr>
          <p:nvPr>
            <p:ph type="title"/>
          </p:nvPr>
        </p:nvSpPr>
        <p:spPr>
          <a:xfrm>
            <a:off x="463974" y="457200"/>
            <a:ext cx="8596668" cy="78486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GOAL SEEK</a:t>
            </a:r>
          </a:p>
        </p:txBody>
      </p:sp>
      <p:pic>
        <p:nvPicPr>
          <p:cNvPr id="5" name="Picture 4">
            <a:extLst>
              <a:ext uri="{FF2B5EF4-FFF2-40B4-BE49-F238E27FC236}">
                <a16:creationId xmlns:a16="http://schemas.microsoft.com/office/drawing/2014/main" id="{44CA5E6D-7033-099E-BBF4-9A0A690E954D}"/>
              </a:ext>
            </a:extLst>
          </p:cNvPr>
          <p:cNvPicPr>
            <a:picLocks noChangeAspect="1"/>
          </p:cNvPicPr>
          <p:nvPr/>
        </p:nvPicPr>
        <p:blipFill>
          <a:blip r:embed="rId2"/>
          <a:stretch>
            <a:fillRect/>
          </a:stretch>
        </p:blipFill>
        <p:spPr>
          <a:xfrm>
            <a:off x="398978" y="1394460"/>
            <a:ext cx="9153379" cy="2819400"/>
          </a:xfrm>
          <a:prstGeom prst="rect">
            <a:avLst/>
          </a:prstGeom>
        </p:spPr>
      </p:pic>
    </p:spTree>
    <p:extLst>
      <p:ext uri="{BB962C8B-B14F-4D97-AF65-F5344CB8AC3E}">
        <p14:creationId xmlns:p14="http://schemas.microsoft.com/office/powerpoint/2010/main" val="2198291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A1333-5263-2404-1CF4-2973A2C393EF}"/>
              </a:ext>
            </a:extLst>
          </p:cNvPr>
          <p:cNvSpPr>
            <a:spLocks noGrp="1"/>
          </p:cNvSpPr>
          <p:nvPr>
            <p:ph type="title"/>
          </p:nvPr>
        </p:nvSpPr>
        <p:spPr>
          <a:xfrm>
            <a:off x="486834" y="160020"/>
            <a:ext cx="8596668" cy="632460"/>
          </a:xfrm>
        </p:spPr>
        <p:txBody>
          <a:bodyPr>
            <a:normAutofit fontScale="90000"/>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SCENARIO MANAGER</a:t>
            </a:r>
          </a:p>
        </p:txBody>
      </p:sp>
      <p:pic>
        <p:nvPicPr>
          <p:cNvPr id="7" name="Picture 6">
            <a:extLst>
              <a:ext uri="{FF2B5EF4-FFF2-40B4-BE49-F238E27FC236}">
                <a16:creationId xmlns:a16="http://schemas.microsoft.com/office/drawing/2014/main" id="{21C9F4EA-7997-C50B-F826-81601AA49043}"/>
              </a:ext>
            </a:extLst>
          </p:cNvPr>
          <p:cNvPicPr>
            <a:picLocks noChangeAspect="1"/>
          </p:cNvPicPr>
          <p:nvPr/>
        </p:nvPicPr>
        <p:blipFill>
          <a:blip r:embed="rId2"/>
          <a:stretch>
            <a:fillRect/>
          </a:stretch>
        </p:blipFill>
        <p:spPr>
          <a:xfrm>
            <a:off x="4196495" y="1737360"/>
            <a:ext cx="5313265" cy="3124259"/>
          </a:xfrm>
          <a:prstGeom prst="rect">
            <a:avLst/>
          </a:prstGeom>
        </p:spPr>
      </p:pic>
      <p:pic>
        <p:nvPicPr>
          <p:cNvPr id="9" name="Picture 8">
            <a:extLst>
              <a:ext uri="{FF2B5EF4-FFF2-40B4-BE49-F238E27FC236}">
                <a16:creationId xmlns:a16="http://schemas.microsoft.com/office/drawing/2014/main" id="{94D6F1DF-E20F-8DA9-0B63-6EB3109791E5}"/>
              </a:ext>
            </a:extLst>
          </p:cNvPr>
          <p:cNvPicPr>
            <a:picLocks noChangeAspect="1"/>
          </p:cNvPicPr>
          <p:nvPr/>
        </p:nvPicPr>
        <p:blipFill>
          <a:blip r:embed="rId3"/>
          <a:stretch>
            <a:fillRect/>
          </a:stretch>
        </p:blipFill>
        <p:spPr>
          <a:xfrm>
            <a:off x="567448" y="1737360"/>
            <a:ext cx="3467584" cy="3124259"/>
          </a:xfrm>
          <a:prstGeom prst="rect">
            <a:avLst/>
          </a:prstGeom>
        </p:spPr>
      </p:pic>
      <p:sp>
        <p:nvSpPr>
          <p:cNvPr id="10" name="Title 1">
            <a:extLst>
              <a:ext uri="{FF2B5EF4-FFF2-40B4-BE49-F238E27FC236}">
                <a16:creationId xmlns:a16="http://schemas.microsoft.com/office/drawing/2014/main" id="{B50C7F84-1E5C-6388-D00B-7A61499D783C}"/>
              </a:ext>
            </a:extLst>
          </p:cNvPr>
          <p:cNvSpPr txBox="1">
            <a:spLocks/>
          </p:cNvSpPr>
          <p:nvPr/>
        </p:nvSpPr>
        <p:spPr>
          <a:xfrm>
            <a:off x="486834" y="792480"/>
            <a:ext cx="8596668" cy="777240"/>
          </a:xfrm>
          <a:prstGeom prst="rect">
            <a:avLst/>
          </a:prstGeom>
        </p:spPr>
        <p:txBody>
          <a:bodyPr vert="horz" lIns="91440" tIns="45720" rIns="91440" bIns="45720" rtlCol="0" anchor="t">
            <a:normAutofit fontScale="4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lumMod val="95000"/>
                    <a:lumOff val="5000"/>
                  </a:schemeClr>
                </a:solidFill>
              </a:rPr>
              <a:t>The report shows how different sales changes affect revenue.</a:t>
            </a:r>
          </a:p>
          <a:p>
            <a:r>
              <a:rPr lang="en-US" b="1" dirty="0">
                <a:solidFill>
                  <a:schemeClr val="tx1">
                    <a:lumMod val="95000"/>
                    <a:lumOff val="5000"/>
                  </a:schemeClr>
                </a:solidFill>
              </a:rPr>
              <a:t>Sales +10%</a:t>
            </a:r>
            <a:r>
              <a:rPr lang="en-US" dirty="0">
                <a:solidFill>
                  <a:schemeClr val="tx1">
                    <a:lumMod val="95000"/>
                    <a:lumOff val="5000"/>
                  </a:schemeClr>
                </a:solidFill>
              </a:rPr>
              <a:t> → Highest revenue, up by </a:t>
            </a:r>
            <a:r>
              <a:rPr lang="en-US" b="1" dirty="0">
                <a:solidFill>
                  <a:schemeClr val="tx1">
                    <a:lumMod val="95000"/>
                    <a:lumOff val="5000"/>
                  </a:schemeClr>
                </a:solidFill>
              </a:rPr>
              <a:t>₹1710933.55774</a:t>
            </a:r>
          </a:p>
          <a:p>
            <a:r>
              <a:rPr lang="en-US" b="1" dirty="0">
                <a:solidFill>
                  <a:schemeClr val="tx1">
                    <a:lumMod val="95000"/>
                    <a:lumOff val="5000"/>
                  </a:schemeClr>
                </a:solidFill>
              </a:rPr>
              <a:t>Discount -5%</a:t>
            </a:r>
            <a:r>
              <a:rPr lang="en-US" dirty="0">
                <a:solidFill>
                  <a:schemeClr val="tx1">
                    <a:lumMod val="95000"/>
                    <a:lumOff val="5000"/>
                  </a:schemeClr>
                </a:solidFill>
              </a:rPr>
              <a:t> → Revenue decreases by </a:t>
            </a:r>
            <a:r>
              <a:rPr lang="en-US" b="1" dirty="0">
                <a:solidFill>
                  <a:schemeClr val="tx1">
                    <a:lumMod val="95000"/>
                    <a:lumOff val="5000"/>
                  </a:schemeClr>
                </a:solidFill>
              </a:rPr>
              <a:t>₹85996.77872</a:t>
            </a:r>
            <a:endParaRPr lang="en-IN" dirty="0"/>
          </a:p>
          <a:p>
            <a:endParaRPr lang="en-US" b="1" dirty="0">
              <a:solidFill>
                <a:schemeClr val="tx1">
                  <a:lumMod val="95000"/>
                  <a:lumOff val="5000"/>
                </a:schemeClr>
              </a:solidFill>
            </a:endParaRPr>
          </a:p>
          <a:p>
            <a:endParaRPr lang="en-US" dirty="0">
              <a:solidFill>
                <a:schemeClr val="tx1">
                  <a:lumMod val="95000"/>
                  <a:lumOff val="5000"/>
                </a:schemeClr>
              </a:solidFill>
            </a:endParaRPr>
          </a:p>
          <a:p>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3922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A793F-32C2-05FE-4E32-859A5A03C516}"/>
              </a:ext>
            </a:extLst>
          </p:cNvPr>
          <p:cNvSpPr>
            <a:spLocks noGrp="1"/>
          </p:cNvSpPr>
          <p:nvPr>
            <p:ph type="title"/>
          </p:nvPr>
        </p:nvSpPr>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MACROS AND AUTOMATION</a:t>
            </a:r>
          </a:p>
        </p:txBody>
      </p:sp>
      <p:sp>
        <p:nvSpPr>
          <p:cNvPr id="3" name="Content Placeholder 2">
            <a:extLst>
              <a:ext uri="{FF2B5EF4-FFF2-40B4-BE49-F238E27FC236}">
                <a16:creationId xmlns:a16="http://schemas.microsoft.com/office/drawing/2014/main" id="{73ACF64B-6624-2A34-9FB7-A11DDA0C743B}"/>
              </a:ext>
            </a:extLst>
          </p:cNvPr>
          <p:cNvSpPr>
            <a:spLocks noGrp="1"/>
          </p:cNvSpPr>
          <p:nvPr>
            <p:ph idx="1"/>
          </p:nvPr>
        </p:nvSpPr>
        <p:spPr>
          <a:xfrm>
            <a:off x="608754" y="1611949"/>
            <a:ext cx="8596668" cy="4118291"/>
          </a:xfrm>
        </p:spPr>
        <p:txBody>
          <a:bodyPr/>
          <a:lstStyle/>
          <a:p>
            <a:pPr marL="0" indent="0">
              <a:buNone/>
            </a:pPr>
            <a:r>
              <a:rPr lang="en-IN" b="1" dirty="0">
                <a:latin typeface="Calibri" panose="020F0502020204030204" pitchFamily="34" charset="0"/>
                <a:ea typeface="Calibri" panose="020F0502020204030204" pitchFamily="34" charset="0"/>
                <a:cs typeface="Calibri" panose="020F0502020204030204" pitchFamily="34" charset="0"/>
              </a:rPr>
              <a:t>Macro Recording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Macros are used to automate repetitive tasks within Excel.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Macros operate by recording the user’s actions like formatting, report generation calculation etc.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 Excel, macros reside within the workbook, however, to maintain and execute them, the file must be saved as a macro-enabled workbook (</a:t>
            </a:r>
            <a:r>
              <a:rPr lang="en-US" i="1" dirty="0">
                <a:latin typeface="Calibri" panose="020F0502020204030204" pitchFamily="34" charset="0"/>
                <a:ea typeface="Calibri" panose="020F0502020204030204" pitchFamily="34" charset="0"/>
                <a:cs typeface="Calibri" panose="020F0502020204030204" pitchFamily="34" charset="0"/>
              </a:rPr>
              <a:t>.</a:t>
            </a:r>
            <a:r>
              <a:rPr lang="en-US" i="1" dirty="0" err="1">
                <a:latin typeface="Calibri" panose="020F0502020204030204" pitchFamily="34" charset="0"/>
                <a:ea typeface="Calibri" panose="020F0502020204030204" pitchFamily="34" charset="0"/>
                <a:cs typeface="Calibri" panose="020F0502020204030204" pitchFamily="34" charset="0"/>
              </a:rPr>
              <a:t>xlsm</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Benefits : </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By using Macros Saved time, improved efficiency, ensured consistency, made data analysis faster and more efficient.</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Also, with the help Button where we can save macro in that button, and within a click the task is done.</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379277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07873-62C5-11A7-FE9C-07EA32F2E2B8}"/>
              </a:ext>
            </a:extLst>
          </p:cNvPr>
          <p:cNvSpPr>
            <a:spLocks noGrp="1"/>
          </p:cNvSpPr>
          <p:nvPr>
            <p:ph type="title"/>
          </p:nvPr>
        </p:nvSpPr>
        <p:spPr>
          <a:xfrm>
            <a:off x="250614" y="259080"/>
            <a:ext cx="8596668" cy="562799"/>
          </a:xfrm>
        </p:spPr>
        <p:txBody>
          <a:bodyPr>
            <a:normAutofit fontScale="90000"/>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VISUALS</a:t>
            </a:r>
          </a:p>
        </p:txBody>
      </p:sp>
      <p:pic>
        <p:nvPicPr>
          <p:cNvPr id="5" name="Picture 4">
            <a:extLst>
              <a:ext uri="{FF2B5EF4-FFF2-40B4-BE49-F238E27FC236}">
                <a16:creationId xmlns:a16="http://schemas.microsoft.com/office/drawing/2014/main" id="{51C425F7-8196-6750-FA81-06807AE9C89B}"/>
              </a:ext>
            </a:extLst>
          </p:cNvPr>
          <p:cNvPicPr>
            <a:picLocks noChangeAspect="1"/>
          </p:cNvPicPr>
          <p:nvPr/>
        </p:nvPicPr>
        <p:blipFill>
          <a:blip r:embed="rId2"/>
          <a:stretch>
            <a:fillRect/>
          </a:stretch>
        </p:blipFill>
        <p:spPr>
          <a:xfrm>
            <a:off x="373380" y="911860"/>
            <a:ext cx="9362786" cy="2067560"/>
          </a:xfrm>
          <a:prstGeom prst="rect">
            <a:avLst/>
          </a:prstGeom>
        </p:spPr>
      </p:pic>
      <p:pic>
        <p:nvPicPr>
          <p:cNvPr id="7" name="Picture 6">
            <a:extLst>
              <a:ext uri="{FF2B5EF4-FFF2-40B4-BE49-F238E27FC236}">
                <a16:creationId xmlns:a16="http://schemas.microsoft.com/office/drawing/2014/main" id="{FC072CF7-19B8-D2C9-8684-4B8660A236E0}"/>
              </a:ext>
            </a:extLst>
          </p:cNvPr>
          <p:cNvPicPr>
            <a:picLocks noChangeAspect="1"/>
          </p:cNvPicPr>
          <p:nvPr/>
        </p:nvPicPr>
        <p:blipFill>
          <a:blip r:embed="rId3"/>
          <a:stretch>
            <a:fillRect/>
          </a:stretch>
        </p:blipFill>
        <p:spPr>
          <a:xfrm>
            <a:off x="373380" y="3255920"/>
            <a:ext cx="9573876" cy="2763880"/>
          </a:xfrm>
          <a:prstGeom prst="rect">
            <a:avLst/>
          </a:prstGeom>
        </p:spPr>
      </p:pic>
    </p:spTree>
    <p:extLst>
      <p:ext uri="{BB962C8B-B14F-4D97-AF65-F5344CB8AC3E}">
        <p14:creationId xmlns:p14="http://schemas.microsoft.com/office/powerpoint/2010/main" val="3532947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E591-AAA8-FDC1-B2F2-475A2BC865A3}"/>
              </a:ext>
            </a:extLst>
          </p:cNvPr>
          <p:cNvSpPr>
            <a:spLocks noGrp="1"/>
          </p:cNvSpPr>
          <p:nvPr>
            <p:ph type="title"/>
          </p:nvPr>
        </p:nvSpPr>
        <p:spPr>
          <a:xfrm>
            <a:off x="555414" y="297180"/>
            <a:ext cx="8596668" cy="80010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INSIGHTS AND RECOMMENDATIONS</a:t>
            </a:r>
          </a:p>
        </p:txBody>
      </p:sp>
      <p:sp>
        <p:nvSpPr>
          <p:cNvPr id="3" name="Content Placeholder 2">
            <a:extLst>
              <a:ext uri="{FF2B5EF4-FFF2-40B4-BE49-F238E27FC236}">
                <a16:creationId xmlns:a16="http://schemas.microsoft.com/office/drawing/2014/main" id="{0B84FE18-D420-5C18-40B8-E90ABFE54DEB}"/>
              </a:ext>
            </a:extLst>
          </p:cNvPr>
          <p:cNvSpPr>
            <a:spLocks noGrp="1"/>
          </p:cNvSpPr>
          <p:nvPr>
            <p:ph idx="1"/>
          </p:nvPr>
        </p:nvSpPr>
        <p:spPr>
          <a:xfrm>
            <a:off x="502074" y="1226820"/>
            <a:ext cx="8596668" cy="4594860"/>
          </a:xfrm>
        </p:spPr>
        <p:txBody>
          <a:bodyPr/>
          <a:lstStyle/>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Analyzed top-performing categories, revealing Technology and Office Supplies as major revenue drivers.</a:t>
            </a:r>
          </a:p>
          <a:p>
            <a:pPr>
              <a:buClr>
                <a:schemeClr val="tx1"/>
              </a:buClr>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Identified  </a:t>
            </a:r>
            <a:r>
              <a:rPr lang="en-US" dirty="0">
                <a:latin typeface="Calibri" panose="020F0502020204030204" pitchFamily="34" charset="0"/>
                <a:ea typeface="Calibri" panose="020F0502020204030204" pitchFamily="34" charset="0"/>
                <a:cs typeface="Calibri" panose="020F0502020204030204" pitchFamily="34" charset="0"/>
              </a:rPr>
              <a:t>C</a:t>
            </a:r>
            <a:r>
              <a:rPr lang="en-US">
                <a:latin typeface="Calibri" panose="020F0502020204030204" pitchFamily="34" charset="0"/>
                <a:ea typeface="Calibri" panose="020F0502020204030204" pitchFamily="34" charset="0"/>
                <a:cs typeface="Calibri" panose="020F0502020204030204" pitchFamily="34" charset="0"/>
              </a:rPr>
              <a:t>onsumers </a:t>
            </a:r>
            <a:r>
              <a:rPr lang="en-US" dirty="0">
                <a:latin typeface="Calibri" panose="020F0502020204030204" pitchFamily="34" charset="0"/>
                <a:ea typeface="Calibri" panose="020F0502020204030204" pitchFamily="34" charset="0"/>
                <a:cs typeface="Calibri" panose="020F0502020204030204" pitchFamily="34" charset="0"/>
              </a:rPr>
              <a:t>as the strongest segment, generating 50% of the sales.</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Discovered year-around growth with peak performance in Q4 due to festive season demand</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There is significant increase in Sales is after 2015 and reached its maximum peak in 2017.</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Found out Standard Class is the most preferred shipping mode.</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Recommended improving underperforming accessories through bundling or repositioning.</a:t>
            </a:r>
          </a:p>
          <a:p>
            <a:pPr>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Recommended improving underperforming products by repositioning and advertising.</a:t>
            </a:r>
          </a:p>
          <a:p>
            <a:pPr marL="0" indent="0">
              <a:buNone/>
            </a:pPr>
            <a:endParaRPr lang="en-IN" dirty="0"/>
          </a:p>
        </p:txBody>
      </p:sp>
    </p:spTree>
    <p:extLst>
      <p:ext uri="{BB962C8B-B14F-4D97-AF65-F5344CB8AC3E}">
        <p14:creationId xmlns:p14="http://schemas.microsoft.com/office/powerpoint/2010/main" val="19011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B72B-2F43-4BCC-8D9A-EFCB0059AE0A}"/>
              </a:ext>
            </a:extLst>
          </p:cNvPr>
          <p:cNvSpPr>
            <a:spLocks noGrp="1"/>
          </p:cNvSpPr>
          <p:nvPr>
            <p:ph type="title"/>
          </p:nvPr>
        </p:nvSpPr>
        <p:spPr>
          <a:xfrm>
            <a:off x="677334" y="609600"/>
            <a:ext cx="8596668" cy="861060"/>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RECOMMENDATIONS</a:t>
            </a:r>
          </a:p>
        </p:txBody>
      </p:sp>
      <p:sp>
        <p:nvSpPr>
          <p:cNvPr id="3" name="Content Placeholder 2">
            <a:extLst>
              <a:ext uri="{FF2B5EF4-FFF2-40B4-BE49-F238E27FC236}">
                <a16:creationId xmlns:a16="http://schemas.microsoft.com/office/drawing/2014/main" id="{D7E3ED58-56A0-F689-7838-DB76EDF33A72}"/>
              </a:ext>
            </a:extLst>
          </p:cNvPr>
          <p:cNvSpPr>
            <a:spLocks noGrp="1"/>
          </p:cNvSpPr>
          <p:nvPr>
            <p:ph idx="1"/>
          </p:nvPr>
        </p:nvSpPr>
        <p:spPr>
          <a:xfrm>
            <a:off x="677334" y="1488613"/>
            <a:ext cx="8596668" cy="3880773"/>
          </a:xfrm>
        </p:spPr>
        <p:txBody>
          <a:bodyPr/>
          <a:lstStyle/>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Optimize pricing strategies by reducing unnecessary discounts.</a:t>
            </a:r>
          </a:p>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Increase promotion for slower-moving categories such as Furniture.</a:t>
            </a:r>
          </a:p>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Prioritize key clients with high-demand Technology products.</a:t>
            </a:r>
          </a:p>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Enhance product turnover through strategic advertisement and pricing adjustments.</a:t>
            </a:r>
          </a:p>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Implement customer loyalty programs and promotional offers (Vouchers).</a:t>
            </a:r>
          </a:p>
          <a:p>
            <a:pPr>
              <a:lnSpc>
                <a:spcPct val="150000"/>
              </a:lnSpc>
              <a:buClr>
                <a:schemeClr val="tx1"/>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Streamline delivery processes to improve efficiency and customer satisfaction.</a:t>
            </a:r>
          </a:p>
          <a:p>
            <a:pPr marL="0" indent="0">
              <a:buNone/>
            </a:pPr>
            <a:endParaRPr lang="en-IN" dirty="0"/>
          </a:p>
        </p:txBody>
      </p:sp>
    </p:spTree>
    <p:extLst>
      <p:ext uri="{BB962C8B-B14F-4D97-AF65-F5344CB8AC3E}">
        <p14:creationId xmlns:p14="http://schemas.microsoft.com/office/powerpoint/2010/main" val="202214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B16E5-033D-F1DA-DBE5-0A4FA8D32D9A}"/>
              </a:ext>
            </a:extLst>
          </p:cNvPr>
          <p:cNvSpPr>
            <a:spLocks noGrp="1"/>
          </p:cNvSpPr>
          <p:nvPr>
            <p:ph type="title"/>
          </p:nvPr>
        </p:nvSpPr>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99D99739-5314-BDC8-AC8A-07A4861D7BD2}"/>
              </a:ext>
            </a:extLst>
          </p:cNvPr>
          <p:cNvSpPr>
            <a:spLocks noGrp="1"/>
          </p:cNvSpPr>
          <p:nvPr>
            <p:ph idx="1"/>
          </p:nvPr>
        </p:nvSpPr>
        <p:spPr>
          <a:xfrm>
            <a:off x="677334" y="1488613"/>
            <a:ext cx="8596668" cy="4310207"/>
          </a:xfrm>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Superstore Dashboard provides actionable insights to optimize pricing, focus on best-selling products, improve delivery efficiency, strengthening customer loyalty, and leverage seasonal and regional trends to drive growth and profitability.</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NEXT STEPS :</a:t>
            </a:r>
          </a:p>
          <a:p>
            <a:pPr>
              <a:buClr>
                <a:schemeClr val="tx1"/>
              </a:buCl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Sales Forecasting:</a:t>
            </a:r>
            <a:r>
              <a:rPr lang="en-US" dirty="0">
                <a:latin typeface="Calibri" panose="020F0502020204030204" pitchFamily="34" charset="0"/>
                <a:ea typeface="Calibri" panose="020F0502020204030204" pitchFamily="34" charset="0"/>
                <a:cs typeface="Calibri" panose="020F0502020204030204" pitchFamily="34" charset="0"/>
              </a:rPr>
              <a:t> Project Q1,Q2 sales to optimize inventory planning and promotional activities.</a:t>
            </a:r>
          </a:p>
          <a:p>
            <a:pPr>
              <a:buClr>
                <a:schemeClr val="tx1"/>
              </a:buCl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Product Strategy:</a:t>
            </a:r>
            <a:r>
              <a:rPr lang="en-US" dirty="0">
                <a:latin typeface="Calibri" panose="020F0502020204030204" pitchFamily="34" charset="0"/>
                <a:ea typeface="Calibri" panose="020F0502020204030204" pitchFamily="34" charset="0"/>
                <a:cs typeface="Calibri" panose="020F0502020204030204" pitchFamily="34" charset="0"/>
              </a:rPr>
              <a:t> Develop bundling initiatives to improve turnover of low-performing accessories.</a:t>
            </a:r>
          </a:p>
          <a:p>
            <a:pPr>
              <a:buClr>
                <a:schemeClr val="tx1"/>
              </a:buCl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Regional Insights:</a:t>
            </a:r>
            <a:r>
              <a:rPr lang="en-US" dirty="0">
                <a:latin typeface="Calibri" panose="020F0502020204030204" pitchFamily="34" charset="0"/>
                <a:ea typeface="Calibri" panose="020F0502020204030204" pitchFamily="34" charset="0"/>
                <a:cs typeface="Calibri" panose="020F0502020204030204" pitchFamily="34" charset="0"/>
              </a:rPr>
              <a:t> Analyze customer behavior by region to tailor sales and marketing strategies.</a:t>
            </a:r>
          </a:p>
          <a:p>
            <a:pPr>
              <a:buClr>
                <a:schemeClr val="tx1"/>
              </a:buClr>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Discount Analysis:</a:t>
            </a:r>
            <a:r>
              <a:rPr lang="en-IN" dirty="0">
                <a:latin typeface="Calibri" panose="020F0502020204030204" pitchFamily="34" charset="0"/>
                <a:ea typeface="Calibri" panose="020F0502020204030204" pitchFamily="34" charset="0"/>
                <a:cs typeface="Calibri" panose="020F0502020204030204" pitchFamily="34" charset="0"/>
              </a:rPr>
              <a:t> Assessing how current discount structures influence profit margins.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3517558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781</TotalTime>
  <Words>936</Words>
  <Application>Microsoft Office PowerPoint</Application>
  <PresentationFormat>Widescreen</PresentationFormat>
  <Paragraphs>111</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Calibri(BODY)</vt:lpstr>
      <vt:lpstr>Trebuchet MS</vt:lpstr>
      <vt:lpstr>Wingdings</vt:lpstr>
      <vt:lpstr>Wingdings 3</vt:lpstr>
      <vt:lpstr>Facet</vt:lpstr>
      <vt:lpstr>SALES DATASET ANALYSIS ADVANCED EXCEL PROJECT</vt:lpstr>
      <vt:lpstr>PROJECT OBJECTIVES AND OVERVIEW</vt:lpstr>
      <vt:lpstr>DATA DESCRIPTION AND PREPARATION</vt:lpstr>
      <vt:lpstr>VISUALS</vt:lpstr>
      <vt:lpstr>KEY METRICS AND DATA ANALYSIS</vt:lpstr>
      <vt:lpstr>PIVOT TABLES AND PIVOT CHARTS </vt:lpstr>
      <vt:lpstr>PIVOT TABLES AND PIVOT CHARTS </vt:lpstr>
      <vt:lpstr>DASHBOARD OVERVIEW</vt:lpstr>
      <vt:lpstr>SUPERSTORE SALES DASHBOARD</vt:lpstr>
      <vt:lpstr>WHAT-IF ANALYSIS</vt:lpstr>
      <vt:lpstr>GOAL SEEK</vt:lpstr>
      <vt:lpstr>SCENARIO MANAGER</vt:lpstr>
      <vt:lpstr>MACROS AND AUTOMATION</vt:lpstr>
      <vt:lpstr>VISUALS</vt:lpstr>
      <vt:lpstr>INSIGHTS AND RECOMMENDATIONS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20EUAI054 VIKASS ARAVIND C V</dc:creator>
  <cp:lastModifiedBy>ashifmuhammed3538@gmail.com</cp:lastModifiedBy>
  <cp:revision>2</cp:revision>
  <dcterms:created xsi:type="dcterms:W3CDTF">2025-10-10T04:35:29Z</dcterms:created>
  <dcterms:modified xsi:type="dcterms:W3CDTF">2026-02-14T02:37:21Z</dcterms:modified>
</cp:coreProperties>
</file>